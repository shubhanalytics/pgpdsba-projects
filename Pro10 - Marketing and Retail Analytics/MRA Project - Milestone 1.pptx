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8" r:id="rId5"/>
    <p:sldId id="259"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1535532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30786117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9477855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5478368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325522-87C9-4ED4-A058-2B9E187377F4}" type="datetimeFigureOut">
              <a:rPr lang="en-US" smtClean="0"/>
              <a:t>12/11/2021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9967728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9325522-87C9-4ED4-A058-2B9E187377F4}" type="datetimeFigureOut">
              <a:rPr lang="en-US" smtClean="0"/>
              <a:t>12/11/2021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69215723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325522-87C9-4ED4-A058-2B9E187377F4}" type="datetimeFigureOut">
              <a:rPr lang="en-US" smtClean="0"/>
              <a:t>12/11/2021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0935570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0157465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6610767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3404952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7604251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82266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4886591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9325522-87C9-4ED4-A058-2B9E187377F4}" type="datetimeFigureOut">
              <a:rPr lang="en-US" smtClean="0"/>
              <a:t>12/11/2021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9681058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9325522-87C9-4ED4-A058-2B9E187377F4}" type="datetimeFigureOut">
              <a:rPr lang="en-US" smtClean="0"/>
              <a:t>12/11/2021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8728375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6800389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322963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325522-87C9-4ED4-A058-2B9E187377F4}" type="datetimeFigureOut">
              <a:rPr lang="en-US" smtClean="0"/>
              <a:t>12/11/2021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D52BA09-923D-4205-A211-054C5762B69A}" type="slidenum">
              <a:rPr lang="en-US" smtClean="0"/>
              <a:t>‹#›</a:t>
            </a:fld>
            <a:endParaRPr lang="en-US"/>
          </a:p>
        </p:txBody>
      </p:sp>
    </p:spTree>
    <p:extLst>
      <p:ext uri="{BB962C8B-B14F-4D97-AF65-F5344CB8AC3E}">
        <p14:creationId xmlns:p14="http://schemas.microsoft.com/office/powerpoint/2010/main" val="9764749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10836"/>
            <a:ext cx="9905998" cy="1126837"/>
          </a:xfrm>
        </p:spPr>
        <p:txBody>
          <a:bodyPr>
            <a:noAutofit/>
          </a:bodyPr>
          <a:lstStyle/>
          <a:p>
            <a:pPr algn="ctr"/>
            <a:r>
              <a:rPr lang="en-US" sz="4000" b="1" u="sng" dirty="0">
                <a:solidFill>
                  <a:srgbClr val="FFFF00"/>
                </a:solidFill>
                <a:effectLst>
                  <a:outerShdw blurRad="38100" dist="38100" dir="2700000" algn="tl">
                    <a:srgbClr val="000000">
                      <a:alpha val="43137"/>
                    </a:srgbClr>
                  </a:outerShdw>
                </a:effectLst>
              </a:rPr>
              <a:t>MRA Project - Milestone 1</a:t>
            </a:r>
            <a:endParaRPr lang="en-US" sz="4000" b="1" u="sng"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1237673"/>
            <a:ext cx="9905999" cy="4553528"/>
          </a:xfrm>
        </p:spPr>
        <p:txBody>
          <a:bodyPr>
            <a:normAutofit/>
          </a:bodyPr>
          <a:lstStyle/>
          <a:p>
            <a:pPr marL="0" indent="0">
              <a:buNone/>
            </a:pPr>
            <a:r>
              <a:rPr lang="en-US" sz="3200" b="1" dirty="0" smtClean="0">
                <a:solidFill>
                  <a:srgbClr val="FFFF00"/>
                </a:solidFill>
                <a:effectLst>
                  <a:outerShdw blurRad="38100" dist="38100" dir="2700000" algn="tl">
                    <a:srgbClr val="000000">
                      <a:alpha val="43137"/>
                    </a:srgbClr>
                  </a:outerShdw>
                </a:effectLst>
              </a:rPr>
              <a:t>CONTENTS:</a:t>
            </a:r>
            <a:endParaRPr lang="en-US" sz="3200" b="1" dirty="0">
              <a:solidFill>
                <a:srgbClr val="FFFF00"/>
              </a:solidFill>
              <a:effectLst>
                <a:outerShdw blurRad="38100" dist="38100" dir="2700000" algn="tl">
                  <a:srgbClr val="000000">
                    <a:alpha val="43137"/>
                  </a:srgbClr>
                </a:outerShdw>
              </a:effectLst>
            </a:endParaRPr>
          </a:p>
          <a:p>
            <a:r>
              <a:rPr lang="en-US" sz="1800" b="1" dirty="0" smtClean="0">
                <a:effectLst>
                  <a:outerShdw blurRad="38100" dist="38100" dir="2700000" algn="tl">
                    <a:srgbClr val="000000">
                      <a:alpha val="43137"/>
                    </a:srgbClr>
                  </a:outerShdw>
                </a:effectLst>
              </a:rPr>
              <a:t>Project Description/Agenda</a:t>
            </a:r>
          </a:p>
          <a:p>
            <a:r>
              <a:rPr lang="en-US" sz="1800" b="1" dirty="0" smtClean="0">
                <a:effectLst>
                  <a:outerShdw blurRad="38100" dist="38100" dir="2700000" algn="tl">
                    <a:srgbClr val="000000">
                      <a:alpha val="43137"/>
                    </a:srgbClr>
                  </a:outerShdw>
                </a:effectLst>
              </a:rPr>
              <a:t>Problem Statement</a:t>
            </a:r>
          </a:p>
          <a:p>
            <a:r>
              <a:rPr lang="en-US" sz="1800" b="1" dirty="0" smtClean="0">
                <a:effectLst>
                  <a:outerShdw blurRad="38100" dist="38100" dir="2700000" algn="tl">
                    <a:srgbClr val="000000">
                      <a:alpha val="43137"/>
                    </a:srgbClr>
                  </a:outerShdw>
                </a:effectLst>
              </a:rPr>
              <a:t>Data Dictionary</a:t>
            </a:r>
          </a:p>
          <a:p>
            <a:r>
              <a:rPr lang="en-US" sz="1800" b="1" dirty="0" smtClean="0">
                <a:effectLst>
                  <a:outerShdw blurRad="38100" dist="38100" dir="2700000" algn="tl">
                    <a:srgbClr val="000000">
                      <a:alpha val="43137"/>
                    </a:srgbClr>
                  </a:outerShdw>
                </a:effectLst>
              </a:rPr>
              <a:t>About Data</a:t>
            </a:r>
          </a:p>
          <a:p>
            <a:endParaRPr lang="en-US" sz="1800" b="1" dirty="0" smtClean="0">
              <a:effectLst>
                <a:outerShdw blurRad="38100" dist="38100" dir="2700000" algn="tl">
                  <a:srgbClr val="000000">
                    <a:alpha val="43137"/>
                  </a:srgbClr>
                </a:outerShdw>
              </a:effectLst>
            </a:endParaRPr>
          </a:p>
          <a:p>
            <a:endParaRPr lang="en-US" sz="1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659020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720435"/>
            <a:ext cx="8791575" cy="1173020"/>
          </a:xfrm>
        </p:spPr>
        <p:txBody>
          <a:bodyPr>
            <a:normAutofit/>
          </a:bodyPr>
          <a:lstStyle/>
          <a:p>
            <a:pPr algn="ctr"/>
            <a:r>
              <a:rPr lang="en-US" sz="3200" b="1" cap="none" dirty="0">
                <a:solidFill>
                  <a:srgbClr val="FFFF00"/>
                </a:solidFill>
                <a:effectLst>
                  <a:outerShdw blurRad="38100" dist="38100" dir="2700000" algn="tl">
                    <a:srgbClr val="000000">
                      <a:alpha val="43137"/>
                    </a:srgbClr>
                  </a:outerShdw>
                </a:effectLst>
              </a:rPr>
              <a:t>PROJECT </a:t>
            </a:r>
            <a:r>
              <a:rPr lang="en-US" sz="3200" b="1" cap="none" dirty="0" smtClean="0">
                <a:solidFill>
                  <a:srgbClr val="FFFF00"/>
                </a:solidFill>
                <a:effectLst>
                  <a:outerShdw blurRad="38100" dist="38100" dir="2700000" algn="tl">
                    <a:srgbClr val="000000">
                      <a:alpha val="43137"/>
                    </a:srgbClr>
                  </a:outerShdw>
                </a:effectLst>
              </a:rPr>
              <a:t>DESCRIPTION </a:t>
            </a:r>
            <a:r>
              <a:rPr lang="en-US" sz="3200" cap="none" dirty="0" smtClean="0">
                <a:solidFill>
                  <a:srgbClr val="FFFF00"/>
                </a:solidFill>
                <a:effectLst>
                  <a:outerShdw blurRad="38100" dist="38100" dir="2700000" algn="tl">
                    <a:srgbClr val="000000">
                      <a:alpha val="43137"/>
                    </a:srgbClr>
                  </a:outerShdw>
                </a:effectLst>
              </a:rPr>
              <a:t> </a:t>
            </a:r>
            <a:endParaRPr lang="en-US" sz="3200" cap="none" dirty="0">
              <a:solidFill>
                <a:srgbClr val="FFFF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76423" y="2650837"/>
            <a:ext cx="8791576" cy="2909454"/>
          </a:xfrm>
        </p:spPr>
        <p:txBody>
          <a:bodyPr>
            <a:normAutofit/>
          </a:bodyPr>
          <a:lstStyle/>
          <a:p>
            <a:pPr algn="just"/>
            <a:r>
              <a:rPr lang="en-US" cap="none" dirty="0" smtClean="0">
                <a:solidFill>
                  <a:schemeClr val="tx1"/>
                </a:solidFill>
              </a:rPr>
              <a:t>This project aims to find the underlying buying patterns of the customers of an automobile part manufacturer based on the past 3 years of the company's transaction data and hence recommend customized marketing strategies for different segments of customers.</a:t>
            </a:r>
            <a:endParaRPr lang="en-US" cap="none" dirty="0">
              <a:solidFill>
                <a:schemeClr val="tx1"/>
              </a:solidFill>
            </a:endParaRPr>
          </a:p>
        </p:txBody>
      </p:sp>
    </p:spTree>
    <p:extLst>
      <p:ext uri="{BB962C8B-B14F-4D97-AF65-F5344CB8AC3E}">
        <p14:creationId xmlns:p14="http://schemas.microsoft.com/office/powerpoint/2010/main" val="11673016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8014" y="960583"/>
            <a:ext cx="9772793" cy="1052946"/>
          </a:xfrm>
        </p:spPr>
        <p:txBody>
          <a:bodyPr>
            <a:normAutofit/>
          </a:bodyPr>
          <a:lstStyle/>
          <a:p>
            <a:pPr algn="ctr"/>
            <a:r>
              <a:rPr lang="en-US" sz="3200" b="1" dirty="0" smtClean="0">
                <a:solidFill>
                  <a:srgbClr val="FFFF00"/>
                </a:solidFill>
                <a:effectLst>
                  <a:outerShdw blurRad="38100" dist="38100" dir="2700000" algn="tl">
                    <a:srgbClr val="000000">
                      <a:alpha val="43137"/>
                    </a:srgbClr>
                  </a:outerShdw>
                </a:effectLst>
              </a:rPr>
              <a:t>Problem Statement</a:t>
            </a:r>
            <a:br>
              <a:rPr lang="en-US" sz="3200" b="1" dirty="0" smtClean="0">
                <a:solidFill>
                  <a:srgbClr val="FFFF00"/>
                </a:solidFill>
                <a:effectLst>
                  <a:outerShdw blurRad="38100" dist="38100" dir="2700000" algn="tl">
                    <a:srgbClr val="000000">
                      <a:alpha val="43137"/>
                    </a:srgbClr>
                  </a:outerShdw>
                </a:effectLst>
              </a:rPr>
            </a:br>
            <a:endParaRPr lang="en-US" sz="3200"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2225963"/>
            <a:ext cx="9905999" cy="2586181"/>
          </a:xfrm>
        </p:spPr>
        <p:txBody>
          <a:bodyPr>
            <a:normAutofit/>
          </a:bodyPr>
          <a:lstStyle/>
          <a:p>
            <a:pPr marL="0" indent="0" algn="just">
              <a:buNone/>
            </a:pPr>
            <a:r>
              <a:rPr lang="en-US" sz="2000" dirty="0" smtClean="0"/>
              <a:t>An </a:t>
            </a:r>
            <a:r>
              <a:rPr lang="en-US" sz="2000" dirty="0"/>
              <a:t>automobile parts manufacturing company has collected data of transactions for 3 years. They do not have any in-house data science team, thus they have hired you as their consultant. Your job is to use your magical data science skills to provide them with suitable insights about their data and their customers.</a:t>
            </a:r>
          </a:p>
        </p:txBody>
      </p:sp>
    </p:spTree>
    <p:extLst>
      <p:ext uri="{BB962C8B-B14F-4D97-AF65-F5344CB8AC3E}">
        <p14:creationId xmlns:p14="http://schemas.microsoft.com/office/powerpoint/2010/main" val="24649639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37627"/>
          </a:xfrm>
        </p:spPr>
        <p:txBody>
          <a:bodyPr>
            <a:normAutofit/>
          </a:bodyPr>
          <a:lstStyle/>
          <a:p>
            <a:pPr algn="ctr"/>
            <a:r>
              <a:rPr lang="en-US" sz="3200" b="1" dirty="0" smtClean="0">
                <a:solidFill>
                  <a:srgbClr val="FFFF00"/>
                </a:solidFill>
                <a:effectLst>
                  <a:outerShdw blurRad="38100" dist="38100" dir="2700000" algn="tl">
                    <a:srgbClr val="000000">
                      <a:alpha val="43137"/>
                    </a:srgbClr>
                  </a:outerShdw>
                </a:effectLst>
              </a:rPr>
              <a:t>Data Dictionary</a:t>
            </a:r>
            <a:endParaRPr lang="en-US" sz="3200" b="1"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6612" y="1588655"/>
            <a:ext cx="10515600" cy="4488872"/>
          </a:xfrm>
        </p:spPr>
        <p:txBody>
          <a:bodyPr numCol="2">
            <a:noAutofit/>
          </a:bodyPr>
          <a:lstStyle/>
          <a:p>
            <a:pPr algn="just">
              <a:lnSpc>
                <a:spcPct val="100000"/>
              </a:lnSpc>
              <a:buFont typeface="Wingdings" panose="05000000000000000000" pitchFamily="2" charset="2"/>
              <a:buChar char="§"/>
            </a:pPr>
            <a:r>
              <a:rPr lang="en-US" sz="1600" dirty="0" smtClean="0"/>
              <a:t>ORDERNUMBER : Order Number</a:t>
            </a:r>
          </a:p>
          <a:p>
            <a:pPr algn="just">
              <a:lnSpc>
                <a:spcPct val="100000"/>
              </a:lnSpc>
              <a:buFont typeface="Wingdings" panose="05000000000000000000" pitchFamily="2" charset="2"/>
              <a:buChar char="§"/>
            </a:pPr>
            <a:r>
              <a:rPr lang="en-US" sz="1600" dirty="0" smtClean="0"/>
              <a:t>CUSTOMERNAME :customer</a:t>
            </a:r>
          </a:p>
          <a:p>
            <a:pPr algn="just">
              <a:lnSpc>
                <a:spcPct val="100000"/>
              </a:lnSpc>
              <a:buFont typeface="Wingdings" panose="05000000000000000000" pitchFamily="2" charset="2"/>
              <a:buChar char="§"/>
            </a:pPr>
            <a:r>
              <a:rPr lang="en-US" sz="1600" dirty="0" smtClean="0"/>
              <a:t>QUANTITYORDERED :Quantity ordered</a:t>
            </a:r>
          </a:p>
          <a:p>
            <a:pPr algn="just">
              <a:lnSpc>
                <a:spcPct val="100000"/>
              </a:lnSpc>
              <a:buFont typeface="Wingdings" panose="05000000000000000000" pitchFamily="2" charset="2"/>
              <a:buChar char="§"/>
            </a:pPr>
            <a:r>
              <a:rPr lang="en-US" sz="1600" dirty="0" smtClean="0"/>
              <a:t>PHONE :Phone of the customer</a:t>
            </a:r>
          </a:p>
          <a:p>
            <a:pPr algn="just">
              <a:lnSpc>
                <a:spcPct val="100000"/>
              </a:lnSpc>
              <a:buFont typeface="Wingdings" panose="05000000000000000000" pitchFamily="2" charset="2"/>
              <a:buChar char="§"/>
            </a:pPr>
            <a:r>
              <a:rPr lang="en-US" sz="1600" dirty="0" smtClean="0"/>
              <a:t>PRICEEACH :Price of Each item</a:t>
            </a:r>
          </a:p>
          <a:p>
            <a:pPr algn="just">
              <a:lnSpc>
                <a:spcPct val="100000"/>
              </a:lnSpc>
              <a:buFont typeface="Wingdings" panose="05000000000000000000" pitchFamily="2" charset="2"/>
              <a:buChar char="§"/>
            </a:pPr>
            <a:r>
              <a:rPr lang="en-US" sz="1600" dirty="0" smtClean="0"/>
              <a:t>ADDRESSLINE1 :Address of customer</a:t>
            </a:r>
          </a:p>
          <a:p>
            <a:pPr algn="just">
              <a:lnSpc>
                <a:spcPct val="100000"/>
              </a:lnSpc>
              <a:buFont typeface="Wingdings" panose="05000000000000000000" pitchFamily="2" charset="2"/>
              <a:buChar char="§"/>
            </a:pPr>
            <a:r>
              <a:rPr lang="en-US" sz="1600" dirty="0" smtClean="0"/>
              <a:t>ORDERLINENUMBER :order line</a:t>
            </a:r>
          </a:p>
          <a:p>
            <a:pPr algn="just">
              <a:lnSpc>
                <a:spcPct val="100000"/>
              </a:lnSpc>
              <a:buFont typeface="Wingdings" panose="05000000000000000000" pitchFamily="2" charset="2"/>
              <a:buChar char="§"/>
            </a:pPr>
            <a:r>
              <a:rPr lang="en-US" sz="1600" dirty="0" smtClean="0"/>
              <a:t>CITY :City of customer</a:t>
            </a:r>
          </a:p>
          <a:p>
            <a:pPr algn="just">
              <a:lnSpc>
                <a:spcPct val="100000"/>
              </a:lnSpc>
              <a:buFont typeface="Wingdings" panose="05000000000000000000" pitchFamily="2" charset="2"/>
              <a:buChar char="§"/>
            </a:pPr>
            <a:r>
              <a:rPr lang="en-US" sz="1600" dirty="0" smtClean="0"/>
              <a:t>SALES :Sales amount</a:t>
            </a:r>
          </a:p>
          <a:p>
            <a:pPr algn="just">
              <a:lnSpc>
                <a:spcPct val="100000"/>
              </a:lnSpc>
              <a:buFont typeface="Wingdings" panose="05000000000000000000" pitchFamily="2" charset="2"/>
              <a:buChar char="§"/>
            </a:pPr>
            <a:r>
              <a:rPr lang="en-US" sz="1600" dirty="0" smtClean="0"/>
              <a:t>POSTALCODE :Postal Code of customer</a:t>
            </a:r>
          </a:p>
          <a:p>
            <a:pPr algn="just">
              <a:lnSpc>
                <a:spcPct val="100000"/>
              </a:lnSpc>
              <a:buFont typeface="Wingdings" panose="05000000000000000000" pitchFamily="2" charset="2"/>
              <a:buChar char="§"/>
            </a:pPr>
            <a:r>
              <a:rPr lang="en-US" sz="1600" dirty="0" smtClean="0"/>
              <a:t>ORDERDATE :Order Date</a:t>
            </a:r>
          </a:p>
          <a:p>
            <a:pPr algn="just">
              <a:lnSpc>
                <a:spcPct val="100000"/>
              </a:lnSpc>
              <a:buFont typeface="Wingdings" panose="05000000000000000000" pitchFamily="2" charset="2"/>
              <a:buChar char="§"/>
            </a:pPr>
            <a:r>
              <a:rPr lang="en-US" sz="1600" dirty="0" smtClean="0"/>
              <a:t>COUNTRY :Country customer</a:t>
            </a:r>
          </a:p>
          <a:p>
            <a:pPr algn="just">
              <a:lnSpc>
                <a:spcPct val="100000"/>
              </a:lnSpc>
              <a:buFont typeface="Wingdings" panose="05000000000000000000" pitchFamily="2" charset="2"/>
              <a:buChar char="§"/>
            </a:pPr>
            <a:r>
              <a:rPr lang="en-US" sz="1600" dirty="0" smtClean="0"/>
              <a:t>DAYS_SINCE_LASTORDER :Days_ Since_Lastorder</a:t>
            </a:r>
          </a:p>
          <a:p>
            <a:pPr algn="just">
              <a:lnSpc>
                <a:spcPct val="100000"/>
              </a:lnSpc>
              <a:buFont typeface="Wingdings" panose="05000000000000000000" pitchFamily="2" charset="2"/>
              <a:buChar char="§"/>
            </a:pPr>
            <a:r>
              <a:rPr lang="en-US" sz="1600" dirty="0" smtClean="0"/>
              <a:t>CONTACTLASTNAME :Contact person customer</a:t>
            </a:r>
          </a:p>
          <a:p>
            <a:pPr algn="just">
              <a:lnSpc>
                <a:spcPct val="100000"/>
              </a:lnSpc>
              <a:buFont typeface="Wingdings" panose="05000000000000000000" pitchFamily="2" charset="2"/>
              <a:buChar char="§"/>
            </a:pPr>
            <a:r>
              <a:rPr lang="en-US" sz="1600" dirty="0" smtClean="0"/>
              <a:t>STATUS :Status of order like Shipped or not</a:t>
            </a:r>
          </a:p>
          <a:p>
            <a:pPr algn="just">
              <a:lnSpc>
                <a:spcPct val="100000"/>
              </a:lnSpc>
              <a:buFont typeface="Wingdings" panose="05000000000000000000" pitchFamily="2" charset="2"/>
              <a:buChar char="§"/>
            </a:pPr>
            <a:r>
              <a:rPr lang="en-US" sz="1600" dirty="0" smtClean="0"/>
              <a:t>CONTACTFIRSTNAME :Contact person customer</a:t>
            </a:r>
          </a:p>
          <a:p>
            <a:pPr algn="just">
              <a:lnSpc>
                <a:spcPct val="100000"/>
              </a:lnSpc>
              <a:buFont typeface="Wingdings" panose="05000000000000000000" pitchFamily="2" charset="2"/>
              <a:buChar char="§"/>
            </a:pPr>
            <a:r>
              <a:rPr lang="en-US" sz="1600" dirty="0" smtClean="0"/>
              <a:t>PRODUCTLINE :Product line – CATEGORY</a:t>
            </a:r>
          </a:p>
          <a:p>
            <a:pPr algn="just">
              <a:lnSpc>
                <a:spcPct val="100000"/>
              </a:lnSpc>
              <a:buFont typeface="Wingdings" panose="05000000000000000000" pitchFamily="2" charset="2"/>
              <a:buChar char="§"/>
            </a:pPr>
            <a:r>
              <a:rPr lang="en-US" sz="1600" dirty="0" smtClean="0"/>
              <a:t>DEALSIZE :Size of the deal based on Quantity and Item Price</a:t>
            </a:r>
          </a:p>
          <a:p>
            <a:pPr algn="just">
              <a:lnSpc>
                <a:spcPct val="100000"/>
              </a:lnSpc>
              <a:buFont typeface="Wingdings" panose="05000000000000000000" pitchFamily="2" charset="2"/>
              <a:buChar char="§"/>
            </a:pPr>
            <a:r>
              <a:rPr lang="en-US" sz="1600" dirty="0" smtClean="0"/>
              <a:t>MSRP :Manufacturer's Suggested Retail Price</a:t>
            </a:r>
          </a:p>
          <a:p>
            <a:pPr algn="just">
              <a:lnSpc>
                <a:spcPct val="100000"/>
              </a:lnSpc>
              <a:buFont typeface="Wingdings" panose="05000000000000000000" pitchFamily="2" charset="2"/>
              <a:buChar char="§"/>
            </a:pPr>
            <a:r>
              <a:rPr lang="en-US" sz="1600" dirty="0" smtClean="0"/>
              <a:t>PRODUCTCODE :Code of Product</a:t>
            </a:r>
          </a:p>
          <a:p>
            <a:pPr algn="just">
              <a:lnSpc>
                <a:spcPct val="100000"/>
              </a:lnSpc>
              <a:buFont typeface="Wingdings" panose="05000000000000000000" pitchFamily="2" charset="2"/>
              <a:buChar char="Ø"/>
            </a:pPr>
            <a:endParaRPr lang="en-US" sz="1600" dirty="0"/>
          </a:p>
        </p:txBody>
      </p:sp>
    </p:spTree>
    <p:extLst>
      <p:ext uri="{BB962C8B-B14F-4D97-AF65-F5344CB8AC3E}">
        <p14:creationId xmlns:p14="http://schemas.microsoft.com/office/powerpoint/2010/main" val="174569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683491"/>
          </a:xfrm>
        </p:spPr>
        <p:txBody>
          <a:bodyPr>
            <a:normAutofit/>
          </a:bodyPr>
          <a:lstStyle/>
          <a:p>
            <a:pPr algn="ctr"/>
            <a:r>
              <a:rPr lang="en-US" sz="3200" b="1" dirty="0" smtClean="0">
                <a:solidFill>
                  <a:srgbClr val="FFFF00"/>
                </a:solidFill>
                <a:effectLst>
                  <a:outerShdw blurRad="38100" dist="38100" dir="2700000" algn="tl">
                    <a:srgbClr val="000000">
                      <a:alpha val="43137"/>
                    </a:srgbClr>
                  </a:outerShdw>
                </a:effectLst>
              </a:rPr>
              <a:t>ABOUT DATA</a:t>
            </a:r>
            <a:endParaRPr lang="en-US" sz="3200" b="1"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683491"/>
            <a:ext cx="10302443" cy="5735782"/>
          </a:xfrm>
        </p:spPr>
        <p:txBody>
          <a:bodyPr>
            <a:normAutofit fontScale="92500" lnSpcReduction="10000"/>
          </a:bodyPr>
          <a:lstStyle/>
          <a:p>
            <a:pPr>
              <a:buFont typeface="Wingdings" panose="05000000000000000000" pitchFamily="2" charset="2"/>
              <a:buChar char="§"/>
            </a:pPr>
            <a:r>
              <a:rPr lang="en-US" sz="2000" u="sng" dirty="0" smtClean="0"/>
              <a:t>Info:</a:t>
            </a:r>
            <a:r>
              <a:rPr lang="en-US" sz="2000" dirty="0" smtClean="0"/>
              <a:t> Data consists of total 2747 entries, with zero null values.</a:t>
            </a:r>
          </a:p>
          <a:p>
            <a:pPr>
              <a:buFont typeface="Wingdings" panose="05000000000000000000" pitchFamily="2" charset="2"/>
              <a:buChar char="§"/>
            </a:pPr>
            <a:r>
              <a:rPr lang="en-US" sz="2000" u="sng" dirty="0" smtClean="0"/>
              <a:t>Shape:</a:t>
            </a:r>
            <a:r>
              <a:rPr lang="en-US" sz="2000" dirty="0" smtClean="0"/>
              <a:t> Data has 2747 Rows and 20 Columns.</a:t>
            </a:r>
          </a:p>
          <a:p>
            <a:pPr>
              <a:buFont typeface="Wingdings" panose="05000000000000000000" pitchFamily="2" charset="2"/>
              <a:buChar char="§"/>
            </a:pPr>
            <a:r>
              <a:rPr lang="en-US" sz="2000" u="sng" dirty="0" smtClean="0"/>
              <a:t>Size:</a:t>
            </a:r>
            <a:r>
              <a:rPr lang="en-US" sz="2000" dirty="0" smtClean="0"/>
              <a:t> 2747 * 20 = 54940 </a:t>
            </a:r>
          </a:p>
          <a:p>
            <a:pPr>
              <a:buFont typeface="Wingdings" panose="05000000000000000000" pitchFamily="2" charset="2"/>
              <a:buChar char="§"/>
            </a:pPr>
            <a:r>
              <a:rPr lang="en-US" sz="2000" u="sng" dirty="0" smtClean="0"/>
              <a:t>Data Types:</a:t>
            </a:r>
            <a:r>
              <a:rPr lang="en-US" sz="2000" dirty="0" smtClean="0"/>
              <a:t> It </a:t>
            </a:r>
            <a:r>
              <a:rPr lang="en-US" sz="2000" dirty="0"/>
              <a:t>has </a:t>
            </a:r>
            <a:r>
              <a:rPr lang="en-US" sz="2000" dirty="0" smtClean="0"/>
              <a:t>1 column of ‘datetime64[ns]’ data type, 2 columns of ‘float64’, 5 columns of ‘int64’ and 12 columns of ‘object’ data type.</a:t>
            </a:r>
          </a:p>
          <a:p>
            <a:pPr>
              <a:buFont typeface="Wingdings" panose="05000000000000000000" pitchFamily="2" charset="2"/>
              <a:buChar char="§"/>
            </a:pPr>
            <a:r>
              <a:rPr lang="en-US" sz="2000" u="sng" dirty="0" smtClean="0"/>
              <a:t>Summary Stats: </a:t>
            </a:r>
            <a:r>
              <a:rPr lang="en-US" sz="2000" dirty="0" smtClean="0"/>
              <a:t>Min Sales- 482.13, Max Sales-14082.80, Mean of Sales- 3553.04</a:t>
            </a:r>
          </a:p>
          <a:p>
            <a:pPr marL="0" indent="0">
              <a:buNone/>
            </a:pPr>
            <a:r>
              <a:rPr lang="en-US" sz="2000" dirty="0" smtClean="0"/>
              <a:t>   Max. price of item- 252.87 &amp; Min. price of item- 26.88 with </a:t>
            </a:r>
            <a:r>
              <a:rPr lang="en-US" sz="2000" dirty="0"/>
              <a:t>s</a:t>
            </a:r>
            <a:r>
              <a:rPr lang="en-US" sz="2000" dirty="0" smtClean="0"/>
              <a:t>tandard deviation of  42.04</a:t>
            </a:r>
          </a:p>
          <a:p>
            <a:pPr marL="0" indent="0">
              <a:buNone/>
            </a:pPr>
            <a:r>
              <a:rPr lang="en-US" sz="2000" dirty="0" smtClean="0"/>
              <a:t>   Min. no. of days since last order- 42 days, Max. no. of days since last order-3562 days.</a:t>
            </a:r>
          </a:p>
          <a:p>
            <a:pPr>
              <a:buFont typeface="Wingdings" panose="05000000000000000000" pitchFamily="2" charset="2"/>
              <a:buChar char="§"/>
            </a:pPr>
            <a:r>
              <a:rPr lang="en-US" sz="2000" u="sng" dirty="0" smtClean="0"/>
              <a:t>Assumptions:</a:t>
            </a:r>
            <a:r>
              <a:rPr lang="en-US" sz="2000" dirty="0" smtClean="0"/>
              <a:t> At first glance over the summary of the data, it seems like the items are not too costly, the average price of each item is 101.09. The difference between the max and min ordered quantity is too high, and the standard deviation(9.76) is very less, it means there are vey few customers who ordered higher quantities than others. Also, the average of MSRP is coming out to be 100.69, that isn’t very high and the products are affordable. We need to focus here on two things mainly: ‘Sales’ &amp; ‘Days since last order’. </a:t>
            </a:r>
            <a:endParaRPr lang="en-US" sz="2000" u="sng" dirty="0"/>
          </a:p>
        </p:txBody>
      </p:sp>
    </p:spTree>
    <p:extLst>
      <p:ext uri="{BB962C8B-B14F-4D97-AF65-F5344CB8AC3E}">
        <p14:creationId xmlns:p14="http://schemas.microsoft.com/office/powerpoint/2010/main" val="22772561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775855"/>
          </a:xfrm>
        </p:spPr>
        <p:txBody>
          <a:bodyPr>
            <a:normAutofit fontScale="90000"/>
          </a:bodyPr>
          <a:lstStyle/>
          <a:p>
            <a:pPr algn="ctr"/>
            <a:r>
              <a:rPr lang="en-US" sz="3200" b="1" dirty="0" smtClean="0">
                <a:solidFill>
                  <a:srgbClr val="FFFF00"/>
                </a:solidFill>
                <a:effectLst>
                  <a:outerShdw blurRad="38100" dist="38100" dir="2700000" algn="tl">
                    <a:srgbClr val="000000">
                      <a:alpha val="43137"/>
                    </a:srgbClr>
                  </a:outerShdw>
                </a:effectLst>
              </a:rPr>
              <a:t>Univariate, BIVARIATE and MULTIVARIATE Analysis</a:t>
            </a:r>
            <a:endParaRPr lang="en-US" sz="3200" b="1"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655782"/>
            <a:ext cx="10302443" cy="6202218"/>
          </a:xfrm>
        </p:spPr>
        <p:txBody>
          <a:bodyPr>
            <a:normAutofit lnSpcReduction="10000"/>
          </a:bodyPr>
          <a:lstStyle/>
          <a:p>
            <a:pPr marL="0" indent="0">
              <a:buNone/>
            </a:pPr>
            <a:r>
              <a:rPr lang="en-US" sz="2000" dirty="0" smtClean="0"/>
              <a:t>1) </a:t>
            </a:r>
            <a:r>
              <a:rPr lang="en-US" sz="2000" u="sng" dirty="0" smtClean="0"/>
              <a:t>COUNTRY</a:t>
            </a:r>
            <a:r>
              <a:rPr lang="en-US" sz="2000" dirty="0" smtClean="0"/>
              <a:t>:  Let’s first look at the count plot for the COUNTRY.</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sz="2000" dirty="0" smtClean="0"/>
              <a:t>Out of total 19 countries in the dataset, It seems like USA clearly wins the game here. The maximum number of customers are here from USA and the minimum number of customers are here from Ireland.</a:t>
            </a:r>
            <a:endParaRPr lang="en-US" sz="2000" dirty="0"/>
          </a:p>
        </p:txBody>
      </p:sp>
      <p:pic>
        <p:nvPicPr>
          <p:cNvPr id="4" name="Picture 3"/>
          <p:cNvPicPr>
            <a:picLocks noChangeAspect="1"/>
          </p:cNvPicPr>
          <p:nvPr/>
        </p:nvPicPr>
        <p:blipFill>
          <a:blip r:embed="rId2"/>
          <a:stretch>
            <a:fillRect/>
          </a:stretch>
        </p:blipFill>
        <p:spPr>
          <a:xfrm>
            <a:off x="1237674" y="1154546"/>
            <a:ext cx="8303490" cy="4147127"/>
          </a:xfrm>
          <a:prstGeom prst="rect">
            <a:avLst/>
          </a:prstGeom>
          <a:ln>
            <a:solidFill>
              <a:schemeClr val="bg1"/>
            </a:solidFill>
          </a:ln>
        </p:spPr>
      </p:pic>
    </p:spTree>
    <p:extLst>
      <p:ext uri="{BB962C8B-B14F-4D97-AF65-F5344CB8AC3E}">
        <p14:creationId xmlns:p14="http://schemas.microsoft.com/office/powerpoint/2010/main" val="37555944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idx="1"/>
          </p:nvPr>
        </p:nvSpPr>
        <p:spPr>
          <a:xfrm>
            <a:off x="1141412" y="0"/>
            <a:ext cx="9905999" cy="6858000"/>
          </a:xfrm>
        </p:spPr>
        <p:txBody>
          <a:bodyPr/>
          <a:lstStyle/>
          <a:p>
            <a:pPr marL="0" indent="0">
              <a:buNone/>
            </a:pPr>
            <a:r>
              <a:rPr lang="en-US" sz="2000" dirty="0" smtClean="0"/>
              <a:t>2) </a:t>
            </a:r>
            <a:r>
              <a:rPr lang="en-US" sz="2000" u="sng" dirty="0" smtClean="0"/>
              <a:t>CITY:</a:t>
            </a:r>
            <a:r>
              <a:rPr lang="en-US" sz="2000" dirty="0" smtClean="0"/>
              <a:t> Here we can see that the city Madrid has max no. of customers</a:t>
            </a:r>
            <a:r>
              <a:rPr lang="en-US" dirty="0" smtClean="0"/>
              <a:t>.</a:t>
            </a:r>
          </a:p>
          <a:p>
            <a:pPr marL="0" indent="0">
              <a:buNone/>
            </a:pPr>
            <a:endParaRPr lang="en-US" dirty="0"/>
          </a:p>
        </p:txBody>
      </p:sp>
      <p:pic>
        <p:nvPicPr>
          <p:cNvPr id="13" name="Picture 12"/>
          <p:cNvPicPr>
            <a:picLocks noChangeAspect="1"/>
          </p:cNvPicPr>
          <p:nvPr/>
        </p:nvPicPr>
        <p:blipFill>
          <a:blip r:embed="rId2"/>
          <a:stretch>
            <a:fillRect/>
          </a:stretch>
        </p:blipFill>
        <p:spPr>
          <a:xfrm>
            <a:off x="1328738" y="535709"/>
            <a:ext cx="9099118" cy="6225310"/>
          </a:xfrm>
          <a:prstGeom prst="rect">
            <a:avLst/>
          </a:prstGeom>
          <a:ln>
            <a:solidFill>
              <a:schemeClr val="bg1"/>
            </a:solidFill>
          </a:ln>
        </p:spPr>
      </p:pic>
    </p:spTree>
    <p:extLst>
      <p:ext uri="{BB962C8B-B14F-4D97-AF65-F5344CB8AC3E}">
        <p14:creationId xmlns:p14="http://schemas.microsoft.com/office/powerpoint/2010/main" val="140403072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0"/>
            <a:ext cx="9905999" cy="6779491"/>
          </a:xfrm>
        </p:spPr>
        <p:txBody>
          <a:bodyPr/>
          <a:lstStyle/>
          <a:p>
            <a:pPr marL="0" indent="0">
              <a:buNone/>
            </a:pPr>
            <a:r>
              <a:rPr lang="en-US" dirty="0" smtClean="0"/>
              <a:t>3) </a:t>
            </a:r>
            <a:r>
              <a:rPr lang="en-US" sz="2000" u="sng" dirty="0" smtClean="0"/>
              <a:t>PRODUCT LINE</a:t>
            </a:r>
            <a:r>
              <a:rPr lang="en-US" sz="2000" dirty="0" smtClean="0"/>
              <a:t>- We can clearly see that Classic Cars has the max no. of sales, (above 4000) followed by Trucks and Buses. While Trains has the least no. of sales.</a:t>
            </a:r>
          </a:p>
          <a:p>
            <a:pPr marL="0" indent="0">
              <a:buNone/>
            </a:pPr>
            <a:endParaRPr lang="en-US" dirty="0"/>
          </a:p>
        </p:txBody>
      </p:sp>
      <p:pic>
        <p:nvPicPr>
          <p:cNvPr id="5" name="Picture 4"/>
          <p:cNvPicPr>
            <a:picLocks noChangeAspect="1"/>
          </p:cNvPicPr>
          <p:nvPr/>
        </p:nvPicPr>
        <p:blipFill>
          <a:blip r:embed="rId2"/>
          <a:stretch>
            <a:fillRect/>
          </a:stretch>
        </p:blipFill>
        <p:spPr>
          <a:xfrm>
            <a:off x="1462087" y="1117601"/>
            <a:ext cx="9048895" cy="5661890"/>
          </a:xfrm>
          <a:prstGeom prst="rect">
            <a:avLst/>
          </a:prstGeom>
          <a:ln>
            <a:solidFill>
              <a:schemeClr val="bg1"/>
            </a:solidFill>
          </a:ln>
        </p:spPr>
      </p:pic>
    </p:spTree>
    <p:extLst>
      <p:ext uri="{BB962C8B-B14F-4D97-AF65-F5344CB8AC3E}">
        <p14:creationId xmlns:p14="http://schemas.microsoft.com/office/powerpoint/2010/main" val="11716996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0"/>
            <a:ext cx="9628188" cy="6858000"/>
          </a:xfrm>
        </p:spPr>
        <p:txBody>
          <a:bodyPr/>
          <a:lstStyle/>
          <a:p>
            <a:r>
              <a:rPr lang="en-US" sz="2000" dirty="0" smtClean="0"/>
              <a:t>4) </a:t>
            </a:r>
            <a:r>
              <a:rPr lang="en-US" sz="2000" u="sng" dirty="0" smtClean="0"/>
              <a:t>DEAL SIZE</a:t>
            </a:r>
            <a:r>
              <a:rPr lang="en-US" sz="2000" dirty="0" smtClean="0"/>
              <a:t>: Let’s look at the broader view of the deal size with respect to sales. It can be clearly observe that ‘Large’ deal size has the mx no. of sales.</a:t>
            </a:r>
          </a:p>
          <a:p>
            <a:endParaRPr lang="en-US" dirty="0"/>
          </a:p>
        </p:txBody>
      </p:sp>
      <p:pic>
        <p:nvPicPr>
          <p:cNvPr id="4" name="Picture 3"/>
          <p:cNvPicPr>
            <a:picLocks noChangeAspect="1"/>
          </p:cNvPicPr>
          <p:nvPr/>
        </p:nvPicPr>
        <p:blipFill>
          <a:blip r:embed="rId2"/>
          <a:stretch>
            <a:fillRect/>
          </a:stretch>
        </p:blipFill>
        <p:spPr>
          <a:xfrm>
            <a:off x="1141412" y="969819"/>
            <a:ext cx="10258425" cy="5888182"/>
          </a:xfrm>
          <a:prstGeom prst="rect">
            <a:avLst/>
          </a:prstGeom>
          <a:ln>
            <a:solidFill>
              <a:schemeClr val="bg1"/>
            </a:solidFill>
          </a:ln>
        </p:spPr>
      </p:pic>
    </p:spTree>
    <p:extLst>
      <p:ext uri="{BB962C8B-B14F-4D97-AF65-F5344CB8AC3E}">
        <p14:creationId xmlns:p14="http://schemas.microsoft.com/office/powerpoint/2010/main" val="32469341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1304</TotalTime>
  <Words>618</Words>
  <Application>Microsoft Office PowerPoint</Application>
  <PresentationFormat>Widescreen</PresentationFormat>
  <Paragraphs>54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Trebuchet MS</vt:lpstr>
      <vt:lpstr>Wingdings</vt:lpstr>
      <vt:lpstr>Circuit</vt:lpstr>
      <vt:lpstr>MRA Project - Milestone 1</vt:lpstr>
      <vt:lpstr>PROJECT DESCRIPTION  </vt:lpstr>
      <vt:lpstr>Problem Statement </vt:lpstr>
      <vt:lpstr>Data Dictionary</vt:lpstr>
      <vt:lpstr>ABOUT DATA</vt:lpstr>
      <vt:lpstr>Univariate, BIVARIATE and MULTIVARIATE Analysis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 Milestone 1</dc:title>
  <dc:creator>user</dc:creator>
  <cp:lastModifiedBy>user</cp:lastModifiedBy>
  <cp:revision>18</cp:revision>
  <dcterms:created xsi:type="dcterms:W3CDTF">2021-12-11T13:33:09Z</dcterms:created>
  <dcterms:modified xsi:type="dcterms:W3CDTF">2021-12-12T11:17:12Z</dcterms:modified>
</cp:coreProperties>
</file>