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57" r:id="rId3"/>
    <p:sldId id="258" r:id="rId4"/>
    <p:sldId id="259" r:id="rId5"/>
    <p:sldId id="262" r:id="rId6"/>
    <p:sldId id="261"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292BB956-B2D7-4322-98B9-3D5C084E0A48}" type="datetimeFigureOut">
              <a:rPr lang="en-US" smtClean="0"/>
              <a:t>2/21/2022</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885781885"/>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2BB956-B2D7-4322-98B9-3D5C084E0A48}" type="datetimeFigureOut">
              <a:rPr lang="en-US" smtClean="0"/>
              <a:t>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1738217330"/>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292BB956-B2D7-4322-98B9-3D5C084E0A48}" type="datetimeFigureOut">
              <a:rPr lang="en-US" smtClean="0"/>
              <a:t>2/21/2022</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2831705454"/>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92BB956-B2D7-4322-98B9-3D5C084E0A48}" type="datetimeFigureOut">
              <a:rPr lang="en-US" smtClean="0"/>
              <a:t>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1782611623"/>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92BB956-B2D7-4322-98B9-3D5C084E0A48}" type="datetimeFigureOut">
              <a:rPr lang="en-US" smtClean="0"/>
              <a:t>2/21/2022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1026464365"/>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92BB956-B2D7-4322-98B9-3D5C084E0A48}" type="datetimeFigureOut">
              <a:rPr lang="en-US" smtClean="0"/>
              <a:t>2/21/2022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1308524873"/>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BB956-B2D7-4322-98B9-3D5C084E0A48}" type="datetimeFigureOut">
              <a:rPr lang="en-US" smtClean="0"/>
              <a:t>2/21/2022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3645092111"/>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smtClean="0"/>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2BB956-B2D7-4322-98B9-3D5C084E0A48}" type="datetimeFigureOut">
              <a:rPr lang="en-US" smtClean="0"/>
              <a:t>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3062625094"/>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2BB956-B2D7-4322-98B9-3D5C084E0A48}" type="datetimeFigureOut">
              <a:rPr lang="en-US" smtClean="0"/>
              <a:t>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935347268"/>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2BB956-B2D7-4322-98B9-3D5C084E0A48}" type="datetimeFigureOut">
              <a:rPr lang="en-US" smtClean="0"/>
              <a:t>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774905807"/>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92BB956-B2D7-4322-98B9-3D5C084E0A48}" type="datetimeFigureOut">
              <a:rPr lang="en-US" smtClean="0"/>
              <a:t>2/21/2022</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3228140233"/>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292BB956-B2D7-4322-98B9-3D5C084E0A48}" type="datetimeFigureOut">
              <a:rPr lang="en-US" smtClean="0"/>
              <a:t>2/21/2022</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6F967EC-BD75-4C66-ABCD-1D6ADB1BF0B3}"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75493624"/>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292BB956-B2D7-4322-98B9-3D5C084E0A48}" type="datetimeFigureOut">
              <a:rPr lang="en-US" smtClean="0"/>
              <a:t>2/21/2022</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3943327515"/>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92BB956-B2D7-4322-98B9-3D5C084E0A48}" type="datetimeFigureOut">
              <a:rPr lang="en-US" smtClean="0"/>
              <a:t>2/21/2022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2074434317"/>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92BB956-B2D7-4322-98B9-3D5C084E0A48}" type="datetimeFigureOut">
              <a:rPr lang="en-US" smtClean="0"/>
              <a:t>2/21/2022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1151942275"/>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2BB956-B2D7-4322-98B9-3D5C084E0A48}" type="datetimeFigureOut">
              <a:rPr lang="en-US" smtClean="0"/>
              <a:t>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3831067547"/>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292BB956-B2D7-4322-98B9-3D5C084E0A48}" type="datetimeFigureOut">
              <a:rPr lang="en-US" smtClean="0"/>
              <a:t>2/21/2022</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76F967EC-BD75-4C66-ABCD-1D6ADB1BF0B3}" type="slidenum">
              <a:rPr lang="en-US" smtClean="0"/>
              <a:t>‹#›</a:t>
            </a:fld>
            <a:endParaRPr lang="en-US"/>
          </a:p>
        </p:txBody>
      </p:sp>
    </p:spTree>
    <p:extLst>
      <p:ext uri="{BB962C8B-B14F-4D97-AF65-F5344CB8AC3E}">
        <p14:creationId xmlns:p14="http://schemas.microsoft.com/office/powerpoint/2010/main" val="2272429784"/>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92BB956-B2D7-4322-98B9-3D5C084E0A48}" type="datetimeFigureOut">
              <a:rPr lang="en-US" smtClean="0"/>
              <a:t>2/21/2022</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6F967EC-BD75-4C66-ABCD-1D6ADB1BF0B3}" type="slidenum">
              <a:rPr lang="en-US" smtClean="0"/>
              <a:t>‹#›</a:t>
            </a:fld>
            <a:endParaRPr lang="en-US"/>
          </a:p>
        </p:txBody>
      </p:sp>
    </p:spTree>
    <p:extLst>
      <p:ext uri="{BB962C8B-B14F-4D97-AF65-F5344CB8AC3E}">
        <p14:creationId xmlns:p14="http://schemas.microsoft.com/office/powerpoint/2010/main" val="25108427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Lst>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293091"/>
            <a:ext cx="9448800" cy="1191491"/>
          </a:xfrm>
        </p:spPr>
        <p:txBody>
          <a:bodyPr>
            <a:normAutofit/>
          </a:bodyPr>
          <a:lstStyle/>
          <a:p>
            <a:r>
              <a:rPr lang="en-US" sz="5401" dirty="0">
                <a:cs typeface="Calibri" panose="020F0502020204030204" pitchFamily="34" charset="0"/>
              </a:rPr>
              <a:t>SOCIAL MEDIA TOURISM</a:t>
            </a:r>
          </a:p>
        </p:txBody>
      </p:sp>
      <p:sp>
        <p:nvSpPr>
          <p:cNvPr id="3" name="Subtitle 2"/>
          <p:cNvSpPr>
            <a:spLocks noGrp="1"/>
          </p:cNvSpPr>
          <p:nvPr>
            <p:ph type="subTitle" idx="1"/>
          </p:nvPr>
        </p:nvSpPr>
        <p:spPr>
          <a:xfrm>
            <a:off x="1371599" y="2401455"/>
            <a:ext cx="9767455" cy="4100945"/>
          </a:xfrm>
        </p:spPr>
        <p:txBody>
          <a:bodyPr>
            <a:normAutofit/>
          </a:bodyPr>
          <a:lstStyle/>
          <a:p>
            <a:r>
              <a:rPr lang="en-US" b="1" dirty="0">
                <a:solidFill>
                  <a:schemeClr val="tx1"/>
                </a:solidFill>
                <a:latin typeface="+mj-lt"/>
                <a:cs typeface="Calibri" panose="020F0502020204030204" pitchFamily="34" charset="0"/>
              </a:rPr>
              <a:t>(CAPSTONE PROJECT – PRESENTATION</a:t>
            </a:r>
            <a:r>
              <a:rPr lang="en-US" b="1" dirty="0" smtClean="0">
                <a:solidFill>
                  <a:schemeClr val="tx1"/>
                </a:solidFill>
                <a:latin typeface="+mj-lt"/>
                <a:cs typeface="Calibri" panose="020F0502020204030204" pitchFamily="34" charset="0"/>
              </a:rPr>
              <a:t>)</a:t>
            </a:r>
            <a:endParaRPr lang="en-US" b="1" dirty="0">
              <a:latin typeface="+mj-lt"/>
              <a:cs typeface="Calibri" panose="020F0502020204030204" pitchFamily="34" charset="0"/>
            </a:endParaRPr>
          </a:p>
          <a:p>
            <a:endParaRPr lang="en-US" b="1" dirty="0" smtClean="0">
              <a:solidFill>
                <a:schemeClr val="tx1"/>
              </a:solidFill>
              <a:latin typeface="+mj-lt"/>
              <a:cs typeface="Calibri" panose="020F0502020204030204" pitchFamily="34" charset="0"/>
            </a:endParaRPr>
          </a:p>
          <a:p>
            <a:endParaRPr lang="en-US" b="1" dirty="0">
              <a:latin typeface="+mj-lt"/>
              <a:cs typeface="Calibri" panose="020F0502020204030204" pitchFamily="34" charset="0"/>
            </a:endParaRPr>
          </a:p>
          <a:p>
            <a:endParaRPr lang="en-US" b="1" dirty="0" smtClean="0">
              <a:solidFill>
                <a:schemeClr val="tx1"/>
              </a:solidFill>
              <a:latin typeface="+mj-lt"/>
              <a:cs typeface="Calibri" panose="020F0502020204030204" pitchFamily="34" charset="0"/>
            </a:endParaRPr>
          </a:p>
          <a:p>
            <a:r>
              <a:rPr lang="en-US" b="1" dirty="0">
                <a:latin typeface="+mj-lt"/>
                <a:cs typeface="Calibri" panose="020F0502020204030204" pitchFamily="34" charset="0"/>
              </a:rPr>
              <a:t> </a:t>
            </a:r>
            <a:r>
              <a:rPr lang="en-US" b="1" dirty="0" smtClean="0">
                <a:latin typeface="+mj-lt"/>
                <a:cs typeface="Calibri" panose="020F0502020204030204" pitchFamily="34" charset="0"/>
              </a:rPr>
              <a:t>                                                                                         </a:t>
            </a:r>
          </a:p>
          <a:p>
            <a:r>
              <a:rPr lang="en-US" b="1" dirty="0">
                <a:latin typeface="+mj-lt"/>
                <a:cs typeface="Calibri" panose="020F0502020204030204" pitchFamily="34" charset="0"/>
              </a:rPr>
              <a:t> </a:t>
            </a:r>
            <a:r>
              <a:rPr lang="en-US" b="1" dirty="0" smtClean="0">
                <a:latin typeface="+mj-lt"/>
                <a:cs typeface="Calibri" panose="020F0502020204030204" pitchFamily="34" charset="0"/>
              </a:rPr>
              <a:t>                                                                                            </a:t>
            </a:r>
            <a:r>
              <a:rPr lang="en-US" dirty="0" smtClean="0">
                <a:latin typeface="+mj-lt"/>
                <a:cs typeface="Calibri" panose="020F0502020204030204" pitchFamily="34" charset="0"/>
              </a:rPr>
              <a:t>- By: Shubhank Katarey</a:t>
            </a:r>
            <a:endParaRPr lang="en-US" dirty="0" smtClean="0">
              <a:solidFill>
                <a:schemeClr val="tx1"/>
              </a:solidFill>
              <a:latin typeface="+mj-lt"/>
              <a:cs typeface="Calibri" panose="020F0502020204030204" pitchFamily="34" charset="0"/>
            </a:endParaRPr>
          </a:p>
          <a:p>
            <a:r>
              <a:rPr lang="en-US" b="1" dirty="0">
                <a:latin typeface="+mj-lt"/>
                <a:cs typeface="Calibri" panose="020F0502020204030204" pitchFamily="34" charset="0"/>
              </a:rPr>
              <a:t> </a:t>
            </a:r>
            <a:r>
              <a:rPr lang="en-US" b="1" dirty="0" smtClean="0">
                <a:latin typeface="+mj-lt"/>
                <a:cs typeface="Calibri" panose="020F0502020204030204" pitchFamily="34" charset="0"/>
              </a:rPr>
              <a:t>                                                                                         </a:t>
            </a:r>
            <a:endParaRPr lang="en-US" b="1" dirty="0">
              <a:latin typeface="+mj-lt"/>
              <a:cs typeface="Calibri" panose="020F0502020204030204" pitchFamily="34" charset="0"/>
            </a:endParaRPr>
          </a:p>
          <a:p>
            <a:r>
              <a:rPr lang="en-US" b="1" dirty="0" smtClean="0">
                <a:solidFill>
                  <a:schemeClr val="tx1"/>
                </a:solidFill>
                <a:latin typeface="+mj-lt"/>
                <a:cs typeface="Calibri" panose="020F0502020204030204" pitchFamily="34" charset="0"/>
              </a:rPr>
              <a:t>                                                                                              </a:t>
            </a:r>
            <a:endParaRPr lang="en-US" b="1" dirty="0">
              <a:solidFill>
                <a:schemeClr val="tx1"/>
              </a:solidFill>
              <a:latin typeface="+mj-lt"/>
              <a:cs typeface="Calibri" panose="020F0502020204030204" pitchFamily="34" charset="0"/>
            </a:endParaRPr>
          </a:p>
          <a:p>
            <a:endParaRPr lang="en-US" dirty="0">
              <a:solidFill>
                <a:schemeClr val="tx1"/>
              </a:solidFill>
              <a:latin typeface="+mj-lt"/>
              <a:cs typeface="Calibri" panose="020F0502020204030204" pitchFamily="34" charset="0"/>
            </a:endParaRPr>
          </a:p>
          <a:p>
            <a:endParaRPr lang="en-US" dirty="0">
              <a:latin typeface="+mj-lt"/>
              <a:cs typeface="Calibri" panose="020F0502020204030204" pitchFamily="34" charset="0"/>
            </a:endParaRPr>
          </a:p>
        </p:txBody>
      </p:sp>
    </p:spTree>
    <p:extLst>
      <p:ext uri="{BB962C8B-B14F-4D97-AF65-F5344CB8AC3E}">
        <p14:creationId xmlns:p14="http://schemas.microsoft.com/office/powerpoint/2010/main" val="4279014120"/>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11" y="840509"/>
            <a:ext cx="10571999" cy="905163"/>
          </a:xfrm>
        </p:spPr>
        <p:txBody>
          <a:bodyPr/>
          <a:lstStyle/>
          <a:p>
            <a:r>
              <a:rPr lang="en-US" b="1" dirty="0" smtClean="0">
                <a:cs typeface="Calibri" panose="020F0502020204030204" pitchFamily="34" charset="0"/>
              </a:rPr>
              <a:t>Business Problem Understanding</a:t>
            </a:r>
            <a:endParaRPr lang="en-US" dirty="0">
              <a:cs typeface="Calibri" panose="020F0502020204030204" pitchFamily="34" charset="0"/>
            </a:endParaRPr>
          </a:p>
        </p:txBody>
      </p:sp>
      <p:sp>
        <p:nvSpPr>
          <p:cNvPr id="5" name="Content Placeholder 4"/>
          <p:cNvSpPr>
            <a:spLocks noGrp="1"/>
          </p:cNvSpPr>
          <p:nvPr>
            <p:ph idx="1"/>
          </p:nvPr>
        </p:nvSpPr>
        <p:spPr>
          <a:xfrm>
            <a:off x="818721" y="1671782"/>
            <a:ext cx="10554575" cy="4784441"/>
          </a:xfrm>
        </p:spPr>
        <p:txBody>
          <a:bodyPr>
            <a:normAutofit lnSpcReduction="10000"/>
          </a:bodyPr>
          <a:lstStyle/>
          <a:p>
            <a:pPr marL="0" indent="0" algn="just">
              <a:buNone/>
            </a:pPr>
            <a:r>
              <a:rPr lang="en-US" b="1" u="sng" dirty="0" smtClean="0">
                <a:latin typeface="+mj-lt"/>
                <a:cs typeface="Calibri" panose="020F0502020204030204" pitchFamily="34" charset="0"/>
              </a:rPr>
              <a:t>Business Problem</a:t>
            </a:r>
            <a:r>
              <a:rPr lang="en-US" dirty="0" smtClean="0">
                <a:latin typeface="+mj-lt"/>
                <a:cs typeface="Calibri" panose="020F0502020204030204" pitchFamily="34" charset="0"/>
              </a:rPr>
              <a:t>: An aviation company collaborated with social networking platforms to analyze the social and digital behavior of the customers, so that they can provide the digital advertisement on the user page of the targeted customers who have a high propensity to take up the product. By using this  approach of reaching out to more customers, company wants to increase it’s customer base and this approach will also result in better digital presence which will lead to better revenue generation for the company.</a:t>
            </a:r>
          </a:p>
          <a:p>
            <a:pPr marL="0" indent="0" algn="just">
              <a:buNone/>
            </a:pPr>
            <a:endParaRPr lang="en-US" dirty="0" smtClean="0">
              <a:latin typeface="+mj-lt"/>
              <a:cs typeface="Calibri" panose="020F0502020204030204" pitchFamily="34" charset="0"/>
            </a:endParaRPr>
          </a:p>
          <a:p>
            <a:pPr marL="0" indent="0" algn="just">
              <a:buNone/>
            </a:pPr>
            <a:r>
              <a:rPr lang="en-US" b="1" u="sng" dirty="0" smtClean="0">
                <a:latin typeface="+mj-lt"/>
                <a:cs typeface="Calibri" panose="020F0502020204030204" pitchFamily="34" charset="0"/>
              </a:rPr>
              <a:t>Objective</a:t>
            </a:r>
            <a:r>
              <a:rPr lang="en-US" dirty="0" smtClean="0">
                <a:latin typeface="+mj-lt"/>
                <a:cs typeface="Calibri" panose="020F0502020204030204" pitchFamily="34" charset="0"/>
              </a:rPr>
              <a:t>: To predict the customer propensity of buying tickets based on their several activities and behavior on social networking platforms and   their preferred device (mobile or laptop) to login.</a:t>
            </a:r>
          </a:p>
          <a:p>
            <a:pPr marL="0" indent="0" algn="just">
              <a:buNone/>
            </a:pPr>
            <a:endParaRPr lang="en-US" dirty="0" smtClean="0">
              <a:latin typeface="+mj-lt"/>
              <a:cs typeface="Calibri" panose="020F0502020204030204" pitchFamily="34" charset="0"/>
            </a:endParaRPr>
          </a:p>
          <a:p>
            <a:pPr marL="0" indent="0" algn="just">
              <a:buNone/>
            </a:pPr>
            <a:r>
              <a:rPr lang="en-US" b="1" u="sng" dirty="0" smtClean="0">
                <a:latin typeface="+mj-lt"/>
                <a:cs typeface="Calibri" panose="020F0502020204030204" pitchFamily="34" charset="0"/>
              </a:rPr>
              <a:t>Scope</a:t>
            </a:r>
            <a:r>
              <a:rPr lang="en-US" dirty="0" smtClean="0">
                <a:latin typeface="+mj-lt"/>
                <a:cs typeface="Calibri" panose="020F0502020204030204" pitchFamily="34" charset="0"/>
              </a:rPr>
              <a:t>: Create various predictive models separately for mobile and laptop users, and finalize the best optimized model that will give us the required and useful business insights. </a:t>
            </a:r>
            <a:endParaRPr lang="en-US" dirty="0">
              <a:latin typeface="+mj-lt"/>
              <a:cs typeface="Calibri" panose="020F0502020204030204" pitchFamily="34" charset="0"/>
            </a:endParaRPr>
          </a:p>
        </p:txBody>
      </p:sp>
    </p:spTree>
    <p:extLst>
      <p:ext uri="{BB962C8B-B14F-4D97-AF65-F5344CB8AC3E}">
        <p14:creationId xmlns:p14="http://schemas.microsoft.com/office/powerpoint/2010/main" val="3953066110"/>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1" y="350982"/>
            <a:ext cx="10515600" cy="932873"/>
          </a:xfrm>
        </p:spPr>
        <p:txBody>
          <a:bodyPr>
            <a:normAutofit/>
          </a:bodyPr>
          <a:lstStyle/>
          <a:p>
            <a:r>
              <a:rPr lang="en-US" b="1" dirty="0" smtClean="0">
                <a:cs typeface="Calibri" panose="020F0502020204030204" pitchFamily="34" charset="0"/>
              </a:rPr>
              <a:t>Basic details and EDA</a:t>
            </a:r>
            <a:endParaRPr lang="en-US" dirty="0">
              <a:cs typeface="Calibri" panose="020F0502020204030204" pitchFamily="34" charset="0"/>
            </a:endParaRPr>
          </a:p>
        </p:txBody>
      </p:sp>
      <p:sp>
        <p:nvSpPr>
          <p:cNvPr id="3" name="Content Placeholder 2"/>
          <p:cNvSpPr>
            <a:spLocks noGrp="1"/>
          </p:cNvSpPr>
          <p:nvPr>
            <p:ph idx="1"/>
          </p:nvPr>
        </p:nvSpPr>
        <p:spPr>
          <a:xfrm>
            <a:off x="838201" y="1283855"/>
            <a:ext cx="10515600" cy="5458700"/>
          </a:xfrm>
        </p:spPr>
        <p:txBody>
          <a:bodyPr>
            <a:noAutofit/>
          </a:bodyPr>
          <a:lstStyle/>
          <a:p>
            <a:pPr algn="just"/>
            <a:r>
              <a:rPr lang="en-US" sz="1600" b="1" u="sng" dirty="0">
                <a:latin typeface="+mj-lt"/>
                <a:cs typeface="Calibri" panose="020F0502020204030204" pitchFamily="34" charset="0"/>
              </a:rPr>
              <a:t>Type of problem</a:t>
            </a:r>
            <a:r>
              <a:rPr lang="en-US" sz="1600" dirty="0">
                <a:latin typeface="+mj-lt"/>
                <a:cs typeface="Calibri" panose="020F0502020204030204" pitchFamily="34" charset="0"/>
              </a:rPr>
              <a:t>: The given business problem is a classification problem (supervised learning category) where the inputs and the target variable are predefined. </a:t>
            </a:r>
          </a:p>
          <a:p>
            <a:pPr algn="just"/>
            <a:r>
              <a:rPr lang="en-US" sz="1600" b="1" u="sng" dirty="0">
                <a:latin typeface="+mj-lt"/>
                <a:cs typeface="Calibri" panose="020F0502020204030204" pitchFamily="34" charset="0"/>
              </a:rPr>
              <a:t>Shape of the dataset</a:t>
            </a:r>
            <a:r>
              <a:rPr lang="en-US" sz="1600" dirty="0">
                <a:latin typeface="+mj-lt"/>
                <a:cs typeface="Calibri" panose="020F0502020204030204" pitchFamily="34" charset="0"/>
              </a:rPr>
              <a:t>: The dataset has 11760 rows and 17 columns including the target variable. </a:t>
            </a:r>
          </a:p>
          <a:p>
            <a:pPr algn="just"/>
            <a:r>
              <a:rPr lang="en-US" sz="1600" b="1" u="sng" dirty="0">
                <a:latin typeface="+mj-lt"/>
                <a:cs typeface="Calibri" panose="020F0502020204030204" pitchFamily="34" charset="0"/>
              </a:rPr>
              <a:t>Target Variable</a:t>
            </a:r>
            <a:r>
              <a:rPr lang="en-US" sz="1600" dirty="0">
                <a:latin typeface="+mj-lt"/>
                <a:cs typeface="Calibri" panose="020F0502020204030204" pitchFamily="34" charset="0"/>
              </a:rPr>
              <a:t>: The target variable is </a:t>
            </a:r>
            <a:r>
              <a:rPr lang="en-US" sz="1600" i="1" dirty="0">
                <a:latin typeface="+mj-lt"/>
                <a:cs typeface="Calibri" panose="020F0502020204030204" pitchFamily="34" charset="0"/>
              </a:rPr>
              <a:t>Taken_product</a:t>
            </a:r>
            <a:r>
              <a:rPr lang="en-US" sz="1600" dirty="0">
                <a:latin typeface="+mj-lt"/>
                <a:cs typeface="Calibri" panose="020F0502020204030204" pitchFamily="34" charset="0"/>
              </a:rPr>
              <a:t> with values Yes and No.</a:t>
            </a:r>
          </a:p>
          <a:p>
            <a:pPr algn="just"/>
            <a:r>
              <a:rPr lang="en-US" sz="1600" b="1" u="sng" dirty="0">
                <a:latin typeface="+mj-lt"/>
                <a:cs typeface="Calibri" panose="020F0502020204030204" pitchFamily="34" charset="0"/>
              </a:rPr>
              <a:t>Null/Missing Values</a:t>
            </a:r>
            <a:r>
              <a:rPr lang="en-US" sz="1600" dirty="0">
                <a:latin typeface="+mj-lt"/>
                <a:cs typeface="Calibri" panose="020F0502020204030204" pitchFamily="34" charset="0"/>
              </a:rPr>
              <a:t>: After dropping rows (1431, around 12%) which had null values and special character and two columns (User_id and MA_comment_on_CP), we left with 10455 rows and 15 columns.</a:t>
            </a:r>
          </a:p>
          <a:p>
            <a:pPr algn="just"/>
            <a:r>
              <a:rPr lang="en-US" sz="1600" b="1" u="sng" dirty="0">
                <a:latin typeface="+mj-lt"/>
                <a:cs typeface="Calibri" panose="020F0502020204030204" pitchFamily="34" charset="0"/>
              </a:rPr>
              <a:t>Duplicate Rows</a:t>
            </a:r>
            <a:r>
              <a:rPr lang="en-US" sz="1600" dirty="0">
                <a:latin typeface="+mj-lt"/>
                <a:cs typeface="Calibri" panose="020F0502020204030204" pitchFamily="34" charset="0"/>
              </a:rPr>
              <a:t>: Identified 848 duplicates and dropped those all, and now left with 9607 rows.</a:t>
            </a:r>
          </a:p>
          <a:p>
            <a:pPr algn="just"/>
            <a:r>
              <a:rPr lang="en-US" sz="1600" b="1" u="sng" dirty="0">
                <a:latin typeface="+mj-lt"/>
                <a:cs typeface="Calibri" panose="020F0502020204030204" pitchFamily="34" charset="0"/>
              </a:rPr>
              <a:t>Outliers and its treatment</a:t>
            </a:r>
            <a:r>
              <a:rPr lang="en-US" sz="1600" dirty="0">
                <a:latin typeface="+mj-lt"/>
                <a:cs typeface="Calibri" panose="020F0502020204030204" pitchFamily="34" charset="0"/>
              </a:rPr>
              <a:t>: Identified 10% of the data as outliers in the dataset, and  were treated using quantile based capping (at 90%) and flooring (at 10%) method. Hence, the improvement in the skewness was also observed after treatment of outliers.</a:t>
            </a:r>
          </a:p>
          <a:p>
            <a:pPr algn="just"/>
            <a:r>
              <a:rPr lang="en-US" sz="1600" b="1" u="sng" dirty="0">
                <a:latin typeface="+mj-lt"/>
                <a:cs typeface="Calibri" panose="020F0502020204030204" pitchFamily="34" charset="0"/>
              </a:rPr>
              <a:t>Multi-collinearity</a:t>
            </a:r>
            <a:r>
              <a:rPr lang="en-US" sz="1600" dirty="0">
                <a:latin typeface="+mj-lt"/>
                <a:cs typeface="Calibri" panose="020F0502020204030204" pitchFamily="34" charset="0"/>
              </a:rPr>
              <a:t>: The variables are not highly correlated with each other. However, moderately correlation was observed between few variables. </a:t>
            </a:r>
          </a:p>
          <a:p>
            <a:pPr algn="just"/>
            <a:r>
              <a:rPr lang="en-US" sz="1600" b="1" u="sng" dirty="0">
                <a:latin typeface="+mj-lt"/>
                <a:cs typeface="Calibri" panose="020F0502020204030204" pitchFamily="34" charset="0"/>
              </a:rPr>
              <a:t>Separate Dataset</a:t>
            </a:r>
            <a:r>
              <a:rPr lang="en-US" sz="1600" dirty="0">
                <a:latin typeface="+mj-lt"/>
                <a:cs typeface="Calibri" panose="020F0502020204030204" pitchFamily="34" charset="0"/>
              </a:rPr>
              <a:t>: The dataset was then split into two different datasets based on preferred device.</a:t>
            </a:r>
          </a:p>
          <a:p>
            <a:pPr algn="just"/>
            <a:r>
              <a:rPr lang="en-US" sz="1600" b="1" u="sng" dirty="0" smtClean="0">
                <a:latin typeface="+mj-lt"/>
                <a:cs typeface="Calibri" panose="020F0502020204030204" pitchFamily="34" charset="0"/>
              </a:rPr>
              <a:t>Data </a:t>
            </a:r>
            <a:r>
              <a:rPr lang="en-US" sz="1600" b="1" u="sng" dirty="0">
                <a:latin typeface="+mj-lt"/>
                <a:cs typeface="Calibri" panose="020F0502020204030204" pitchFamily="34" charset="0"/>
              </a:rPr>
              <a:t>Encoding</a:t>
            </a:r>
            <a:r>
              <a:rPr lang="en-US" sz="1600" dirty="0">
                <a:latin typeface="+mj-lt"/>
                <a:cs typeface="Calibri" panose="020F0502020204030204" pitchFamily="34" charset="0"/>
              </a:rPr>
              <a:t>: Since the categorical variables are less, data encoding was done using one-hot encoding method.</a:t>
            </a:r>
          </a:p>
          <a:p>
            <a:pPr algn="just"/>
            <a:r>
              <a:rPr lang="en-US" sz="1600" b="1" u="sng" dirty="0">
                <a:latin typeface="+mj-lt"/>
                <a:cs typeface="Calibri" panose="020F0502020204030204" pitchFamily="34" charset="0"/>
              </a:rPr>
              <a:t>Shape of each dataset</a:t>
            </a:r>
            <a:r>
              <a:rPr lang="en-US" sz="1600" dirty="0">
                <a:latin typeface="+mj-lt"/>
                <a:cs typeface="Calibri" panose="020F0502020204030204" pitchFamily="34" charset="0"/>
              </a:rPr>
              <a:t>: The ‘data_laptop’ has 1108 rows &amp; 17 columns, and ‘data_mobile’ has 8499 rows &amp; 20 columns. </a:t>
            </a:r>
          </a:p>
        </p:txBody>
      </p:sp>
    </p:spTree>
    <p:extLst>
      <p:ext uri="{BB962C8B-B14F-4D97-AF65-F5344CB8AC3E}">
        <p14:creationId xmlns:p14="http://schemas.microsoft.com/office/powerpoint/2010/main" val="3532307911"/>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23" y="628073"/>
            <a:ext cx="9905999" cy="711200"/>
          </a:xfrm>
        </p:spPr>
        <p:txBody>
          <a:bodyPr>
            <a:normAutofit/>
          </a:bodyPr>
          <a:lstStyle/>
          <a:p>
            <a:r>
              <a:rPr lang="en-US" b="1" dirty="0" smtClean="0">
                <a:cs typeface="Calibri" panose="020F0502020204030204" pitchFamily="34" charset="0"/>
              </a:rPr>
              <a:t>Modelling Approach used </a:t>
            </a:r>
            <a:endParaRPr lang="en-US" b="1" dirty="0">
              <a:cs typeface="Calibri" panose="020F0502020204030204" pitchFamily="34" charset="0"/>
            </a:endParaRPr>
          </a:p>
        </p:txBody>
      </p:sp>
      <p:sp>
        <p:nvSpPr>
          <p:cNvPr id="3" name="Content Placeholder 2"/>
          <p:cNvSpPr>
            <a:spLocks noGrp="1"/>
          </p:cNvSpPr>
          <p:nvPr>
            <p:ph idx="1"/>
          </p:nvPr>
        </p:nvSpPr>
        <p:spPr>
          <a:xfrm>
            <a:off x="1141423" y="1413163"/>
            <a:ext cx="9905999" cy="5200073"/>
          </a:xfrm>
        </p:spPr>
        <p:txBody>
          <a:bodyPr>
            <a:normAutofit lnSpcReduction="10000"/>
          </a:bodyPr>
          <a:lstStyle/>
          <a:p>
            <a:pPr algn="just"/>
            <a:r>
              <a:rPr lang="en-US" dirty="0">
                <a:latin typeface="+mj-lt"/>
                <a:cs typeface="Calibri" panose="020F0502020204030204" pitchFamily="34" charset="0"/>
              </a:rPr>
              <a:t>As it is a classification problem, I have build several models like Logistic Regression, Linear Regression, Naïve Bayes, K-Nearest Neighbor, Random Forest, then ensemble techniques were applied wherever required</a:t>
            </a:r>
            <a:r>
              <a:rPr lang="en-US" dirty="0" smtClean="0">
                <a:latin typeface="+mj-lt"/>
                <a:cs typeface="Calibri" panose="020F0502020204030204" pitchFamily="34" charset="0"/>
              </a:rPr>
              <a:t>.</a:t>
            </a:r>
          </a:p>
          <a:p>
            <a:pPr algn="just"/>
            <a:r>
              <a:rPr lang="en-US" dirty="0" smtClean="0">
                <a:latin typeface="+mj-lt"/>
                <a:cs typeface="Calibri" panose="020F0502020204030204" pitchFamily="34" charset="0"/>
              </a:rPr>
              <a:t>Applied normalization (MinMaxScaler) on independent variables of train set and test set with similar parameters. </a:t>
            </a:r>
          </a:p>
          <a:p>
            <a:pPr algn="just"/>
            <a:r>
              <a:rPr lang="en-US" dirty="0" smtClean="0">
                <a:cs typeface="Calibri" panose="020F0502020204030204" pitchFamily="34" charset="0"/>
              </a:rPr>
              <a:t>Two separate datasets have been formed. The Dataset </a:t>
            </a:r>
            <a:r>
              <a:rPr lang="en-US" dirty="0">
                <a:cs typeface="Calibri" panose="020F0502020204030204" pitchFamily="34" charset="0"/>
              </a:rPr>
              <a:t>‘data_laptop’ has 1108 users who preferred laptop and ‘data_mobile’ has 8499 users who preferred mobile. </a:t>
            </a:r>
            <a:endParaRPr lang="en-US" dirty="0" smtClean="0">
              <a:latin typeface="+mj-lt"/>
              <a:cs typeface="Calibri" panose="020F0502020204030204" pitchFamily="34" charset="0"/>
            </a:endParaRPr>
          </a:p>
          <a:p>
            <a:pPr algn="just"/>
            <a:r>
              <a:rPr lang="en-US" dirty="0" smtClean="0">
                <a:latin typeface="+mj-lt"/>
                <a:cs typeface="Calibri" panose="020F0502020204030204" pitchFamily="34" charset="0"/>
              </a:rPr>
              <a:t>Need of applying SMOTE : Out of </a:t>
            </a:r>
            <a:r>
              <a:rPr lang="en-US" dirty="0">
                <a:latin typeface="+mj-lt"/>
                <a:cs typeface="Calibri" panose="020F0502020204030204" pitchFamily="34" charset="0"/>
              </a:rPr>
              <a:t>1108 laptop users, 832 laptop users (75%) has not taken the product and only 276 users (25%) has taken the product. </a:t>
            </a:r>
            <a:r>
              <a:rPr lang="en-US" dirty="0" smtClean="0">
                <a:latin typeface="+mj-lt"/>
                <a:cs typeface="Calibri" panose="020F0502020204030204" pitchFamily="34" charset="0"/>
              </a:rPr>
              <a:t>Similarly, out of 8499 mobile users, 7221 (85%) has not taken product and only 1278 users has opted for it. </a:t>
            </a:r>
            <a:r>
              <a:rPr lang="en-US" dirty="0">
                <a:latin typeface="+mj-lt"/>
                <a:cs typeface="Calibri" panose="020F0502020204030204" pitchFamily="34" charset="0"/>
              </a:rPr>
              <a:t>This means that there is class imbalance in the dataset, where 1 is minority class and 0 is in majority class</a:t>
            </a:r>
            <a:r>
              <a:rPr lang="en-US" dirty="0" smtClean="0">
                <a:latin typeface="+mj-lt"/>
                <a:cs typeface="Calibri" panose="020F0502020204030204" pitchFamily="34" charset="0"/>
              </a:rPr>
              <a:t>.</a:t>
            </a:r>
          </a:p>
          <a:p>
            <a:pPr algn="just"/>
            <a:r>
              <a:rPr lang="en-US" dirty="0" smtClean="0">
                <a:latin typeface="+mj-lt"/>
                <a:cs typeface="Calibri" panose="020F0502020204030204" pitchFamily="34" charset="0"/>
              </a:rPr>
              <a:t>We chose to split </a:t>
            </a:r>
            <a:r>
              <a:rPr lang="en-US" dirty="0">
                <a:latin typeface="+mj-lt"/>
                <a:cs typeface="Calibri" panose="020F0502020204030204" pitchFamily="34" charset="0"/>
              </a:rPr>
              <a:t>the data into train and test set in 70:30 </a:t>
            </a:r>
            <a:r>
              <a:rPr lang="en-US" dirty="0" smtClean="0">
                <a:latin typeface="+mj-lt"/>
                <a:cs typeface="Calibri" panose="020F0502020204030204" pitchFamily="34" charset="0"/>
              </a:rPr>
              <a:t>ratio to get the more  data in the train set for better classification model.</a:t>
            </a:r>
            <a:endParaRPr lang="en-US" dirty="0">
              <a:latin typeface="+mj-lt"/>
              <a:cs typeface="Calibri" panose="020F0502020204030204" pitchFamily="34" charset="0"/>
            </a:endParaRPr>
          </a:p>
          <a:p>
            <a:pPr algn="just"/>
            <a:endParaRPr lang="en-US" dirty="0">
              <a:latin typeface="+mj-lt"/>
              <a:cs typeface="Calibri" panose="020F0502020204030204" pitchFamily="34" charset="0"/>
            </a:endParaRPr>
          </a:p>
        </p:txBody>
      </p:sp>
    </p:spTree>
    <p:extLst>
      <p:ext uri="{BB962C8B-B14F-4D97-AF65-F5344CB8AC3E}">
        <p14:creationId xmlns:p14="http://schemas.microsoft.com/office/powerpoint/2010/main" val="2967734497"/>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6909" y="637309"/>
            <a:ext cx="10259291" cy="655781"/>
          </a:xfrm>
        </p:spPr>
        <p:txBody>
          <a:bodyPr>
            <a:normAutofit fontScale="90000"/>
          </a:bodyPr>
          <a:lstStyle/>
          <a:p>
            <a:r>
              <a:rPr lang="en-US" b="1" dirty="0" smtClean="0"/>
              <a:t>Model building – for laptop</a:t>
            </a:r>
            <a:br>
              <a:rPr lang="en-US" b="1" dirty="0" smtClean="0"/>
            </a:br>
            <a:endParaRPr lang="en-US" b="1" dirty="0"/>
          </a:p>
        </p:txBody>
      </p:sp>
      <p:sp>
        <p:nvSpPr>
          <p:cNvPr id="5" name="Content Placeholder 4"/>
          <p:cNvSpPr>
            <a:spLocks noGrp="1"/>
          </p:cNvSpPr>
          <p:nvPr>
            <p:ph idx="1"/>
          </p:nvPr>
        </p:nvSpPr>
        <p:spPr>
          <a:xfrm>
            <a:off x="685800" y="1450109"/>
            <a:ext cx="10820400" cy="5435599"/>
          </a:xfrm>
        </p:spPr>
        <p:txBody>
          <a:bodyPr/>
          <a:lstStyle/>
          <a:p>
            <a:r>
              <a:rPr lang="en-US" sz="1800" b="1" u="sng" dirty="0" smtClean="0"/>
              <a:t>LOGISTIC </a:t>
            </a:r>
            <a:r>
              <a:rPr lang="en-US" sz="2000" b="1" u="sng" dirty="0" smtClean="0"/>
              <a:t>REGRESSION</a:t>
            </a:r>
            <a:r>
              <a:rPr lang="en-US" sz="1800" b="1" u="sng" dirty="0" smtClean="0"/>
              <a:t> </a:t>
            </a:r>
            <a:r>
              <a:rPr lang="en-US" sz="1800" dirty="0" smtClean="0"/>
              <a:t>: Not much difference was after observed using  GridSearchCV.</a:t>
            </a:r>
          </a:p>
          <a:p>
            <a:endParaRPr lang="en-US" dirty="0"/>
          </a:p>
        </p:txBody>
      </p:sp>
      <p:pic>
        <p:nvPicPr>
          <p:cNvPr id="7" name="Picture 6"/>
          <p:cNvPicPr>
            <a:picLocks noChangeAspect="1"/>
          </p:cNvPicPr>
          <p:nvPr/>
        </p:nvPicPr>
        <p:blipFill>
          <a:blip r:embed="rId2"/>
          <a:stretch>
            <a:fillRect/>
          </a:stretch>
        </p:blipFill>
        <p:spPr>
          <a:xfrm>
            <a:off x="1028700" y="1865745"/>
            <a:ext cx="10477500" cy="4839855"/>
          </a:xfrm>
          <a:prstGeom prst="rect">
            <a:avLst/>
          </a:prstGeom>
        </p:spPr>
      </p:pic>
    </p:spTree>
    <p:extLst>
      <p:ext uri="{BB962C8B-B14F-4D97-AF65-F5344CB8AC3E}">
        <p14:creationId xmlns:p14="http://schemas.microsoft.com/office/powerpoint/2010/main" val="2412689031"/>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94691" y="1274617"/>
            <a:ext cx="10111509" cy="655783"/>
          </a:xfrm>
        </p:spPr>
        <p:txBody>
          <a:bodyPr>
            <a:normAutofit fontScale="90000"/>
          </a:bodyPr>
          <a:lstStyle/>
          <a:p>
            <a:r>
              <a:rPr lang="en-US" b="1" dirty="0"/>
              <a:t>Model building – for </a:t>
            </a:r>
            <a:r>
              <a:rPr lang="en-US" b="1" dirty="0" smtClean="0"/>
              <a:t>laptop…(continue)</a:t>
            </a:r>
            <a:r>
              <a:rPr lang="en-US" b="1" dirty="0"/>
              <a:t/>
            </a:r>
            <a:br>
              <a:rPr lang="en-US" b="1" dirty="0"/>
            </a:br>
            <a:endParaRPr lang="en-US" b="1" dirty="0"/>
          </a:p>
        </p:txBody>
      </p:sp>
      <p:sp>
        <p:nvSpPr>
          <p:cNvPr id="7" name="Content Placeholder 6"/>
          <p:cNvSpPr>
            <a:spLocks noGrp="1"/>
          </p:cNvSpPr>
          <p:nvPr>
            <p:ph idx="1"/>
          </p:nvPr>
        </p:nvSpPr>
        <p:spPr>
          <a:xfrm>
            <a:off x="685800" y="1671782"/>
            <a:ext cx="10820400" cy="5186218"/>
          </a:xfrm>
        </p:spPr>
        <p:txBody>
          <a:bodyPr/>
          <a:lstStyle/>
          <a:p>
            <a:r>
              <a:rPr lang="en-US" b="1" u="sng" dirty="0" smtClean="0"/>
              <a:t>LDA, KNN and NAÏVE BAYES Models</a:t>
            </a:r>
            <a:r>
              <a:rPr lang="en-US" dirty="0" smtClean="0"/>
              <a:t>:</a:t>
            </a:r>
          </a:p>
          <a:p>
            <a:endParaRPr lang="en-US" dirty="0"/>
          </a:p>
        </p:txBody>
      </p:sp>
      <p:pic>
        <p:nvPicPr>
          <p:cNvPr id="8" name="Content Placeholder 5"/>
          <p:cNvPicPr>
            <a:picLocks noChangeAspect="1"/>
          </p:cNvPicPr>
          <p:nvPr/>
        </p:nvPicPr>
        <p:blipFill>
          <a:blip r:embed="rId2"/>
          <a:stretch>
            <a:fillRect/>
          </a:stretch>
        </p:blipFill>
        <p:spPr>
          <a:xfrm>
            <a:off x="1006764" y="2152073"/>
            <a:ext cx="10499435" cy="4599709"/>
          </a:xfrm>
          <a:prstGeom prst="rect">
            <a:avLst/>
          </a:prstGeom>
        </p:spPr>
      </p:pic>
    </p:spTree>
    <p:extLst>
      <p:ext uri="{BB962C8B-B14F-4D97-AF65-F5344CB8AC3E}">
        <p14:creationId xmlns:p14="http://schemas.microsoft.com/office/powerpoint/2010/main" val="1152326190"/>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434109"/>
            <a:ext cx="8610600" cy="1182255"/>
          </a:xfrm>
        </p:spPr>
        <p:txBody>
          <a:bodyPr/>
          <a:lstStyle/>
          <a:p>
            <a:r>
              <a:rPr lang="en-US" b="1" dirty="0" smtClean="0"/>
              <a:t>MODEL Building – for mobile</a:t>
            </a:r>
            <a:endParaRPr lang="en-US" b="1" dirty="0"/>
          </a:p>
        </p:txBody>
      </p:sp>
      <p:sp>
        <p:nvSpPr>
          <p:cNvPr id="3" name="Content Placeholder 2"/>
          <p:cNvSpPr>
            <a:spLocks noGrp="1"/>
          </p:cNvSpPr>
          <p:nvPr>
            <p:ph idx="1"/>
          </p:nvPr>
        </p:nvSpPr>
        <p:spPr>
          <a:xfrm>
            <a:off x="685800" y="1468582"/>
            <a:ext cx="10820400" cy="5389418"/>
          </a:xfrm>
        </p:spPr>
        <p:txBody>
          <a:bodyPr/>
          <a:lstStyle/>
          <a:p>
            <a:r>
              <a:rPr lang="en-US" b="1" u="sng" dirty="0" smtClean="0"/>
              <a:t>LOGISTIC REGRESSION</a:t>
            </a:r>
            <a:endParaRPr lang="en-US" dirty="0" smtClean="0"/>
          </a:p>
          <a:p>
            <a:endParaRPr lang="en-US" dirty="0"/>
          </a:p>
        </p:txBody>
      </p:sp>
      <p:pic>
        <p:nvPicPr>
          <p:cNvPr id="4" name="Picture 3"/>
          <p:cNvPicPr>
            <a:picLocks noChangeAspect="1"/>
          </p:cNvPicPr>
          <p:nvPr/>
        </p:nvPicPr>
        <p:blipFill>
          <a:blip r:embed="rId2"/>
          <a:stretch>
            <a:fillRect/>
          </a:stretch>
        </p:blipFill>
        <p:spPr>
          <a:xfrm>
            <a:off x="1019174" y="1884218"/>
            <a:ext cx="10487025" cy="4793673"/>
          </a:xfrm>
          <a:prstGeom prst="rect">
            <a:avLst/>
          </a:prstGeom>
        </p:spPr>
      </p:pic>
    </p:spTree>
    <p:extLst>
      <p:ext uri="{BB962C8B-B14F-4D97-AF65-F5344CB8AC3E}">
        <p14:creationId xmlns:p14="http://schemas.microsoft.com/office/powerpoint/2010/main" val="1287887342"/>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6982" y="1099126"/>
            <a:ext cx="10139218" cy="748147"/>
          </a:xfrm>
        </p:spPr>
        <p:txBody>
          <a:bodyPr>
            <a:normAutofit fontScale="90000"/>
          </a:bodyPr>
          <a:lstStyle/>
          <a:p>
            <a:r>
              <a:rPr lang="en-US" b="1" dirty="0" smtClean="0"/>
              <a:t>Model building – for mobile…(continue)</a:t>
            </a:r>
            <a:endParaRPr lang="en-US" b="1" dirty="0"/>
          </a:p>
        </p:txBody>
      </p:sp>
      <p:sp>
        <p:nvSpPr>
          <p:cNvPr id="5" name="Content Placeholder 4"/>
          <p:cNvSpPr>
            <a:spLocks noGrp="1"/>
          </p:cNvSpPr>
          <p:nvPr>
            <p:ph idx="1"/>
          </p:nvPr>
        </p:nvSpPr>
        <p:spPr>
          <a:xfrm>
            <a:off x="1366982" y="1782618"/>
            <a:ext cx="10139218" cy="4996873"/>
          </a:xfrm>
        </p:spPr>
        <p:txBody>
          <a:bodyPr/>
          <a:lstStyle/>
          <a:p>
            <a:r>
              <a:rPr lang="en-US" dirty="0" smtClean="0"/>
              <a:t>Logistic Regression using GridSearchCV, KNN, Naïve Bayes Models:</a:t>
            </a:r>
          </a:p>
          <a:p>
            <a:endParaRPr lang="en-US" dirty="0"/>
          </a:p>
        </p:txBody>
      </p:sp>
      <p:pic>
        <p:nvPicPr>
          <p:cNvPr id="6" name="Content Placeholder 3"/>
          <p:cNvPicPr>
            <a:picLocks noChangeAspect="1"/>
          </p:cNvPicPr>
          <p:nvPr/>
        </p:nvPicPr>
        <p:blipFill rotWithShape="1">
          <a:blip r:embed="rId2"/>
          <a:srcRect l="428" t="1813"/>
          <a:stretch/>
        </p:blipFill>
        <p:spPr>
          <a:xfrm>
            <a:off x="1366982" y="2299856"/>
            <a:ext cx="10139218" cy="4479636"/>
          </a:xfrm>
          <a:prstGeom prst="rect">
            <a:avLst/>
          </a:prstGeom>
          <a:ln>
            <a:solidFill>
              <a:schemeClr val="tx1"/>
            </a:solidFill>
          </a:ln>
        </p:spPr>
      </p:pic>
    </p:spTree>
    <p:extLst>
      <p:ext uri="{BB962C8B-B14F-4D97-AF65-F5344CB8AC3E}">
        <p14:creationId xmlns:p14="http://schemas.microsoft.com/office/powerpoint/2010/main" val="2627139958"/>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2618" y="764373"/>
            <a:ext cx="9723582" cy="787336"/>
          </a:xfrm>
        </p:spPr>
        <p:txBody>
          <a:bodyPr>
            <a:normAutofit/>
          </a:bodyPr>
          <a:lstStyle/>
          <a:p>
            <a:r>
              <a:rPr lang="en-US" b="1" dirty="0" smtClean="0"/>
              <a:t>Final and best predictive model</a:t>
            </a:r>
            <a:endParaRPr lang="en-US" b="1" dirty="0"/>
          </a:p>
        </p:txBody>
      </p:sp>
      <p:sp>
        <p:nvSpPr>
          <p:cNvPr id="3" name="Content Placeholder 2"/>
          <p:cNvSpPr>
            <a:spLocks noGrp="1"/>
          </p:cNvSpPr>
          <p:nvPr>
            <p:ph idx="1"/>
          </p:nvPr>
        </p:nvSpPr>
        <p:spPr>
          <a:xfrm>
            <a:off x="685800" y="1634836"/>
            <a:ext cx="10820400" cy="4913746"/>
          </a:xfrm>
        </p:spPr>
        <p:txBody>
          <a:bodyPr>
            <a:normAutofit fontScale="92500" lnSpcReduction="20000"/>
          </a:bodyPr>
          <a:lstStyle/>
          <a:p>
            <a:pPr algn="just"/>
            <a:r>
              <a:rPr lang="en-US" dirty="0" smtClean="0"/>
              <a:t>As we have seen that in the model for laptop users, the Logistic Regression did not perform very well and the predictions were not quite accurate even after using the GridSearchCV with the best parameters.</a:t>
            </a:r>
          </a:p>
          <a:p>
            <a:pPr algn="just"/>
            <a:r>
              <a:rPr lang="en-US" dirty="0" smtClean="0"/>
              <a:t>Same happened in the case of Linear Discriminant Analysis, the accuracy of the model on the test data for the minority class 1 was 74% which can be considered as good but the other measures like precision and recall were 50% and 65% respectively, due to which this model also cannot be considered as a good predictive model.</a:t>
            </a:r>
          </a:p>
          <a:p>
            <a:pPr algn="just"/>
            <a:r>
              <a:rPr lang="en-US" dirty="0" smtClean="0"/>
              <a:t>I have also build models like Naïve Bayes, Random Forest, with different ensemble  techniques like bagging, boosting but either the accuracy or the recall values for the minority class 1 was very less and it indicates that the model is not able to predict well about the distribution classes.</a:t>
            </a:r>
          </a:p>
          <a:p>
            <a:pPr algn="just"/>
            <a:r>
              <a:rPr lang="en-US" dirty="0" smtClean="0"/>
              <a:t>But in the case of KNN model,  the performance on the test set was quite impressive and we can see that the accuracy is 90% and the recall values are also good, along with AUC ROC value is 97% for the test data, which is very good for the predictive models.</a:t>
            </a:r>
          </a:p>
          <a:p>
            <a:pPr algn="just"/>
            <a:r>
              <a:rPr lang="en-US" dirty="0" smtClean="0"/>
              <a:t>So, for the laptop, we are choosing KNN model as the best predictive model.</a:t>
            </a:r>
          </a:p>
          <a:p>
            <a:pPr algn="just"/>
            <a:r>
              <a:rPr lang="en-US" dirty="0" smtClean="0"/>
              <a:t>Same in the case of mobile, after comparing all the model performances, I chose KNN as the best predictive model.</a:t>
            </a:r>
            <a:endParaRPr lang="en-US" dirty="0"/>
          </a:p>
        </p:txBody>
      </p:sp>
    </p:spTree>
    <p:extLst>
      <p:ext uri="{BB962C8B-B14F-4D97-AF65-F5344CB8AC3E}">
        <p14:creationId xmlns:p14="http://schemas.microsoft.com/office/powerpoint/2010/main" val="2896605073"/>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0"/>
            <a:ext cx="10287000" cy="1200727"/>
          </a:xfrm>
        </p:spPr>
        <p:txBody>
          <a:bodyPr>
            <a:normAutofit/>
          </a:bodyPr>
          <a:lstStyle/>
          <a:p>
            <a:r>
              <a:rPr lang="en-US" b="1" dirty="0" smtClean="0"/>
              <a:t>Business insights and recommendations</a:t>
            </a:r>
            <a:endParaRPr lang="en-US" b="1" dirty="0"/>
          </a:p>
        </p:txBody>
      </p:sp>
      <p:sp>
        <p:nvSpPr>
          <p:cNvPr id="3" name="Content Placeholder 2"/>
          <p:cNvSpPr>
            <a:spLocks noGrp="1"/>
          </p:cNvSpPr>
          <p:nvPr>
            <p:ph idx="1"/>
          </p:nvPr>
        </p:nvSpPr>
        <p:spPr>
          <a:xfrm>
            <a:off x="685800" y="1413164"/>
            <a:ext cx="10820400" cy="5366327"/>
          </a:xfrm>
        </p:spPr>
        <p:txBody>
          <a:bodyPr>
            <a:normAutofit fontScale="85000" lnSpcReduction="20000"/>
          </a:bodyPr>
          <a:lstStyle/>
          <a:p>
            <a:pPr marL="0" indent="0" algn="just">
              <a:buNone/>
            </a:pPr>
            <a:endParaRPr lang="en-US" dirty="0" smtClean="0"/>
          </a:p>
          <a:p>
            <a:pPr algn="just"/>
            <a:r>
              <a:rPr lang="en-US" dirty="0" smtClean="0"/>
              <a:t>The data shows that most of the customers are not very interesting in buying the product. It has also been observed that the customers who has ‘adventure and tourism’ as their preferred place to visit has less chances of buying the product.</a:t>
            </a:r>
          </a:p>
          <a:p>
            <a:pPr algn="just"/>
            <a:r>
              <a:rPr lang="en-US" dirty="0" smtClean="0"/>
              <a:t>There might be the reason that either the customer did not like the services in the past or he/she is opting for other products which might be giving good offers to the users.</a:t>
            </a:r>
          </a:p>
          <a:p>
            <a:pPr algn="just"/>
            <a:r>
              <a:rPr lang="en-US" dirty="0" smtClean="0"/>
              <a:t>But one thing the company can focus on is that the customers who are following the company page have more chances of buying the product, and the majority of the customers who do not follow the company page are not taken the product.  </a:t>
            </a:r>
          </a:p>
          <a:p>
            <a:pPr algn="just"/>
            <a:r>
              <a:rPr lang="en-US" dirty="0" smtClean="0"/>
              <a:t>Also, the users who use mobile as their preferred device to login are more in comparison to users who use  laptop, irrespective of whether the person is adult or not.</a:t>
            </a:r>
          </a:p>
          <a:p>
            <a:pPr algn="just"/>
            <a:r>
              <a:rPr lang="en-US" dirty="0" smtClean="0"/>
              <a:t>The company should focus more on the people who spend more number of daily average minutes on company page, because these kind of users might be interested in the product and looking for travel related services and offers. The company should target such users as the chances are high.</a:t>
            </a:r>
          </a:p>
          <a:p>
            <a:pPr algn="just"/>
            <a:r>
              <a:rPr lang="en-US" dirty="0" smtClean="0"/>
              <a:t>There are users who are not working have not taken the product very often as they might not getting the best offers they are looking for, or due to high cost of the services.</a:t>
            </a:r>
          </a:p>
          <a:p>
            <a:pPr algn="just"/>
            <a:r>
              <a:rPr lang="en-US" dirty="0" smtClean="0"/>
              <a:t>The company should focus on improving it’s services and provide best offers to customers, so that the customers who once opt for the product, do not switch to some other companies. </a:t>
            </a:r>
          </a:p>
          <a:p>
            <a:pPr marL="0" indent="0" algn="just">
              <a:buNone/>
            </a:pPr>
            <a:endParaRPr lang="en-US" dirty="0"/>
          </a:p>
        </p:txBody>
      </p:sp>
    </p:spTree>
    <p:extLst>
      <p:ext uri="{BB962C8B-B14F-4D97-AF65-F5344CB8AC3E}">
        <p14:creationId xmlns:p14="http://schemas.microsoft.com/office/powerpoint/2010/main" val="1741926017"/>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9527" y="764372"/>
            <a:ext cx="11016673" cy="4020063"/>
          </a:xfrm>
        </p:spPr>
        <p:txBody>
          <a:bodyPr/>
          <a:lstStyle/>
          <a:p>
            <a:pPr algn="ctr"/>
            <a:r>
              <a:rPr lang="en-US" b="1" dirty="0" smtClean="0"/>
              <a:t>~ THE END ~</a:t>
            </a:r>
            <a:endParaRPr lang="en-US" b="1" dirty="0"/>
          </a:p>
        </p:txBody>
      </p:sp>
    </p:spTree>
    <p:extLst>
      <p:ext uri="{BB962C8B-B14F-4D97-AF65-F5344CB8AC3E}">
        <p14:creationId xmlns:p14="http://schemas.microsoft.com/office/powerpoint/2010/main" val="1420942056"/>
      </p:ext>
    </p:extLst>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docProps/app.xml><?xml version="1.0" encoding="utf-8"?>
<Properties xmlns="http://schemas.openxmlformats.org/officeDocument/2006/extended-properties" xmlns:vt="http://schemas.openxmlformats.org/officeDocument/2006/docPropsVTypes">
  <Template>TM04033937[[fn=Vapor Trail]]</Template>
  <TotalTime>5844</TotalTime>
  <Words>1224</Words>
  <Application>Microsoft Office PowerPoint</Application>
  <PresentationFormat>Widescreen</PresentationFormat>
  <Paragraphs>57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Century Gothic</vt:lpstr>
      <vt:lpstr>Vapor Trail</vt:lpstr>
      <vt:lpstr>SOCIAL MEDIA TOURISM</vt:lpstr>
      <vt:lpstr>Business Problem Understanding</vt:lpstr>
      <vt:lpstr>Basic details and EDA</vt:lpstr>
      <vt:lpstr>Modelling Approach used </vt:lpstr>
      <vt:lpstr>Model building – for laptop </vt:lpstr>
      <vt:lpstr>Model building – for laptop…(continue) </vt:lpstr>
      <vt:lpstr>MODEL Building – for mobile</vt:lpstr>
      <vt:lpstr>Model building – for mobile…(continue)</vt:lpstr>
      <vt:lpstr>Final and best predictive model</vt:lpstr>
      <vt:lpstr>Business insights and recommendations</vt:lpstr>
      <vt:lpstr>~ THE 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TOURISM</dc:title>
  <dc:creator>user</dc:creator>
  <cp:lastModifiedBy>user</cp:lastModifiedBy>
  <cp:revision>83</cp:revision>
  <dcterms:created xsi:type="dcterms:W3CDTF">2022-02-21T15:26:13Z</dcterms:created>
  <dcterms:modified xsi:type="dcterms:W3CDTF">2022-02-25T16:50:40Z</dcterms:modified>
</cp:coreProperties>
</file>