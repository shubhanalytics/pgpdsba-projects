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63" r:id="rId2"/>
    <p:sldId id="273" r:id="rId3"/>
    <p:sldId id="257" r:id="rId4"/>
    <p:sldId id="258" r:id="rId5"/>
    <p:sldId id="259" r:id="rId6"/>
    <p:sldId id="264" r:id="rId7"/>
    <p:sldId id="265" r:id="rId8"/>
    <p:sldId id="260" r:id="rId9"/>
    <p:sldId id="261" r:id="rId10"/>
    <p:sldId id="262" r:id="rId11"/>
    <p:sldId id="266" r:id="rId12"/>
    <p:sldId id="272" r:id="rId13"/>
    <p:sldId id="274" r:id="rId14"/>
    <p:sldId id="267" r:id="rId15"/>
    <p:sldId id="268" r:id="rId16"/>
    <p:sldId id="269" r:id="rId17"/>
    <p:sldId id="275" r:id="rId18"/>
    <p:sldId id="270" r:id="rId19"/>
    <p:sldId id="271"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7DA72716-AFF5-4EC3-8D08-12D7C4FCCD61}" type="datetimeFigureOut">
              <a:rPr lang="en-US" smtClean="0"/>
              <a:t>12/18/2021</a:t>
            </a:fld>
            <a:endParaRPr lang="en-US"/>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55CFDFF8-901D-493F-9C18-F24819308C15}" type="slidenum">
              <a:rPr lang="en-US" smtClean="0"/>
              <a:t>‹#›</a:t>
            </a:fld>
            <a:endParaRPr lang="en-US"/>
          </a:p>
        </p:txBody>
      </p:sp>
    </p:spTree>
    <p:extLst>
      <p:ext uri="{BB962C8B-B14F-4D97-AF65-F5344CB8AC3E}">
        <p14:creationId xmlns:p14="http://schemas.microsoft.com/office/powerpoint/2010/main" val="2103141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DA72716-AFF5-4EC3-8D08-12D7C4FCCD61}" type="datetimeFigureOut">
              <a:rPr lang="en-US" smtClean="0"/>
              <a:t>12/18/2021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1109815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DA72716-AFF5-4EC3-8D08-12D7C4FCCD61}" type="datetimeFigureOut">
              <a:rPr lang="en-US" smtClean="0"/>
              <a:t>12/18/2021</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3231743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DA72716-AFF5-4EC3-8D08-12D7C4FCCD61}" type="datetimeFigureOut">
              <a:rPr lang="en-US" smtClean="0"/>
              <a:t>12/18/2021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2337401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DA72716-AFF5-4EC3-8D08-12D7C4FCCD61}" type="datetimeFigureOut">
              <a:rPr lang="en-US" smtClean="0"/>
              <a:t>12/18/2021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340714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DA72716-AFF5-4EC3-8D08-12D7C4FCCD61}" type="datetimeFigureOut">
              <a:rPr lang="en-US" smtClean="0"/>
              <a:t>12/18/2021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826427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A72716-AFF5-4EC3-8D08-12D7C4FCCD61}" type="datetimeFigureOut">
              <a:rPr lang="en-US" smtClean="0"/>
              <a:t>12/18/2021</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1642421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DA72716-AFF5-4EC3-8D08-12D7C4FCCD61}" type="datetimeFigureOut">
              <a:rPr lang="en-US" smtClean="0"/>
              <a:t>12/18/2021</a:t>
            </a:fld>
            <a:endParaRPr lang="en-US"/>
          </a:p>
        </p:txBody>
      </p:sp>
      <p:sp>
        <p:nvSpPr>
          <p:cNvPr id="6" name="Footer Placeholder 5"/>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492474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DA72716-AFF5-4EC3-8D08-12D7C4FCCD61}" type="datetimeFigureOut">
              <a:rPr lang="en-US" smtClean="0"/>
              <a:t>12/18/2021</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12857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DA72716-AFF5-4EC3-8D08-12D7C4FCCD61}" type="datetimeFigureOut">
              <a:rPr lang="en-US" smtClean="0"/>
              <a:t>12/18/2021</a:t>
            </a:fld>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1819177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7DA72716-AFF5-4EC3-8D08-12D7C4FCCD61}" type="datetimeFigureOut">
              <a:rPr lang="en-US" smtClean="0"/>
              <a:t>12/18/2021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2747641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7DA72716-AFF5-4EC3-8D08-12D7C4FCCD61}" type="datetimeFigureOut">
              <a:rPr lang="en-US" smtClean="0"/>
              <a:t>12/18/2021</a:t>
            </a:fld>
            <a:endParaRPr lang="en-US"/>
          </a:p>
        </p:txBody>
      </p:sp>
      <p:sp>
        <p:nvSpPr>
          <p:cNvPr id="5" name="Footer Placeholder 4"/>
          <p:cNvSpPr>
            <a:spLocks noGrp="1"/>
          </p:cNvSpPr>
          <p:nvPr>
            <p:ph type="ftr" sz="quarter" idx="11"/>
          </p:nvPr>
        </p:nvSpPr>
        <p:spPr/>
        <p:txBody>
          <a:bodyPr/>
          <a:lstStyle/>
          <a:p>
            <a:endParaRPr lang="en-US"/>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8003872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DA72716-AFF5-4EC3-8D08-12D7C4FCCD61}" type="datetimeFigureOut">
              <a:rPr lang="en-US" smtClean="0"/>
              <a:t>12/18/2021</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1405602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DA72716-AFF5-4EC3-8D08-12D7C4FCCD61}" type="datetimeFigureOut">
              <a:rPr lang="en-US" smtClean="0"/>
              <a:t>12/18/2021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733974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DA72716-AFF5-4EC3-8D08-12D7C4FCCD61}" type="datetimeFigureOut">
              <a:rPr lang="en-US" smtClean="0"/>
              <a:t>12/18/2021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1461970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DA72716-AFF5-4EC3-8D08-12D7C4FCCD61}" type="datetimeFigureOut">
              <a:rPr lang="en-US" smtClean="0"/>
              <a:t>12/18/2021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2719004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DA72716-AFF5-4EC3-8D08-12D7C4FCCD61}" type="datetimeFigureOut">
              <a:rPr lang="en-US" smtClean="0"/>
              <a:t>12/18/2021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5CFDFF8-901D-493F-9C18-F24819308C15}" type="slidenum">
              <a:rPr lang="en-US" smtClean="0"/>
              <a:t>‹#›</a:t>
            </a:fld>
            <a:endParaRPr lang="en-US"/>
          </a:p>
        </p:txBody>
      </p:sp>
    </p:spTree>
    <p:extLst>
      <p:ext uri="{BB962C8B-B14F-4D97-AF65-F5344CB8AC3E}">
        <p14:creationId xmlns:p14="http://schemas.microsoft.com/office/powerpoint/2010/main" val="3309004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DA72716-AFF5-4EC3-8D08-12D7C4FCCD61}" type="datetimeFigureOut">
              <a:rPr lang="en-US" smtClean="0"/>
              <a:t>12/18/2021</a:t>
            </a:fld>
            <a:endParaRPr lang="en-US"/>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55CFDFF8-901D-493F-9C18-F24819308C15}" type="slidenum">
              <a:rPr lang="en-US" smtClean="0"/>
              <a:t>‹#›</a:t>
            </a:fld>
            <a:endParaRPr lang="en-US"/>
          </a:p>
        </p:txBody>
      </p:sp>
    </p:spTree>
    <p:extLst>
      <p:ext uri="{BB962C8B-B14F-4D97-AF65-F5344CB8AC3E}">
        <p14:creationId xmlns:p14="http://schemas.microsoft.com/office/powerpoint/2010/main" val="281546403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chemeClr val="accent1"/>
                </a:solidFill>
              </a:rPr>
              <a:t>MRA Project – Milestone 2</a:t>
            </a:r>
            <a:br>
              <a:rPr lang="en-US" b="1" u="sng" dirty="0" smtClean="0">
                <a:solidFill>
                  <a:schemeClr val="accent1"/>
                </a:solidFill>
              </a:rPr>
            </a:br>
            <a:endParaRPr lang="en-US" sz="3200" dirty="0"/>
          </a:p>
        </p:txBody>
      </p:sp>
      <p:sp>
        <p:nvSpPr>
          <p:cNvPr id="3" name="Content Placeholder 2"/>
          <p:cNvSpPr>
            <a:spLocks noGrp="1"/>
          </p:cNvSpPr>
          <p:nvPr>
            <p:ph idx="1"/>
          </p:nvPr>
        </p:nvSpPr>
        <p:spPr>
          <a:xfrm>
            <a:off x="517236" y="2281383"/>
            <a:ext cx="11120581" cy="4498108"/>
          </a:xfrm>
        </p:spPr>
        <p:txBody>
          <a:bodyPr>
            <a:normAutofit fontScale="92500" lnSpcReduction="10000"/>
          </a:bodyPr>
          <a:lstStyle/>
          <a:p>
            <a:pPr marL="0" indent="0">
              <a:buNone/>
            </a:pPr>
            <a:r>
              <a:rPr lang="en-US" sz="3000" u="sng" dirty="0"/>
              <a:t>Contents:</a:t>
            </a:r>
            <a:endParaRPr lang="en-US" sz="3000" u="sng" dirty="0" smtClean="0"/>
          </a:p>
          <a:p>
            <a:r>
              <a:rPr lang="en-US" dirty="0" smtClean="0"/>
              <a:t>Project Description</a:t>
            </a:r>
          </a:p>
          <a:p>
            <a:r>
              <a:rPr lang="en-US" dirty="0" smtClean="0"/>
              <a:t>Problem Statement</a:t>
            </a:r>
          </a:p>
          <a:p>
            <a:r>
              <a:rPr lang="en-US" dirty="0" smtClean="0"/>
              <a:t>EDA</a:t>
            </a:r>
          </a:p>
          <a:p>
            <a:r>
              <a:rPr lang="en-US" dirty="0" smtClean="0"/>
              <a:t>Dataset Info</a:t>
            </a:r>
          </a:p>
          <a:p>
            <a:r>
              <a:rPr lang="en-US" dirty="0" smtClean="0"/>
              <a:t>Count Plot</a:t>
            </a:r>
          </a:p>
          <a:p>
            <a:r>
              <a:rPr lang="en-US" dirty="0" smtClean="0"/>
              <a:t>Tableau Visualization</a:t>
            </a:r>
          </a:p>
          <a:p>
            <a:r>
              <a:rPr lang="en-US" dirty="0" smtClean="0"/>
              <a:t>Different Trends</a:t>
            </a:r>
          </a:p>
          <a:p>
            <a:r>
              <a:rPr lang="en-US" dirty="0" smtClean="0"/>
              <a:t>KNIME Workflow image </a:t>
            </a:r>
          </a:p>
          <a:p>
            <a:r>
              <a:rPr lang="en-US" dirty="0" smtClean="0"/>
              <a:t>Sample Images of each step on KNIME</a:t>
            </a:r>
          </a:p>
          <a:p>
            <a:r>
              <a:rPr lang="en-US" dirty="0" smtClean="0"/>
              <a:t>Reasons for Association Rule selection</a:t>
            </a:r>
          </a:p>
          <a:p>
            <a:r>
              <a:rPr lang="en-US" dirty="0" smtClean="0"/>
              <a:t> Suggestions and Recommendations </a:t>
            </a:r>
            <a:endParaRPr lang="en-US" dirty="0"/>
          </a:p>
        </p:txBody>
      </p:sp>
    </p:spTree>
    <p:extLst>
      <p:ext uri="{BB962C8B-B14F-4D97-AF65-F5344CB8AC3E}">
        <p14:creationId xmlns:p14="http://schemas.microsoft.com/office/powerpoint/2010/main" val="1009452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Description</a:t>
            </a:r>
          </a:p>
        </p:txBody>
      </p:sp>
      <p:sp>
        <p:nvSpPr>
          <p:cNvPr id="3" name="Content Placeholder 2"/>
          <p:cNvSpPr>
            <a:spLocks noGrp="1"/>
          </p:cNvSpPr>
          <p:nvPr>
            <p:ph idx="1"/>
          </p:nvPr>
        </p:nvSpPr>
        <p:spPr/>
        <p:txBody>
          <a:bodyPr/>
          <a:lstStyle/>
          <a:p>
            <a:r>
              <a:rPr lang="en-US" dirty="0"/>
              <a:t>The project involves conducting a thorough analysis of Point of Sale (POS) Data for providing recommendations through which a grocery store can increase its revenue by popular combo offers &amp; discounts for customers.</a:t>
            </a:r>
          </a:p>
        </p:txBody>
      </p:sp>
    </p:spTree>
    <p:extLst>
      <p:ext uri="{BB962C8B-B14F-4D97-AF65-F5344CB8AC3E}">
        <p14:creationId xmlns:p14="http://schemas.microsoft.com/office/powerpoint/2010/main" val="2097099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US" dirty="0"/>
          </a:p>
        </p:txBody>
      </p:sp>
      <p:sp>
        <p:nvSpPr>
          <p:cNvPr id="3" name="Content Placeholder 2"/>
          <p:cNvSpPr>
            <a:spLocks noGrp="1"/>
          </p:cNvSpPr>
          <p:nvPr>
            <p:ph idx="1"/>
          </p:nvPr>
        </p:nvSpPr>
        <p:spPr/>
        <p:txBody>
          <a:bodyPr/>
          <a:lstStyle/>
          <a:p>
            <a:r>
              <a:rPr lang="en-US" dirty="0"/>
              <a:t>A Grocery Store shared the transactional data with you. Your job is to identify the most popular combos that can be suggested to the Grocery Store chain after a thorough analysis of the most commonly occurring sets of items in the customer orders. The Store doesn’t have any combo offers. Can you suggest the best combos &amp; offers?</a:t>
            </a:r>
          </a:p>
        </p:txBody>
      </p:sp>
    </p:spTree>
    <p:extLst>
      <p:ext uri="{BB962C8B-B14F-4D97-AF65-F5344CB8AC3E}">
        <p14:creationId xmlns:p14="http://schemas.microsoft.com/office/powerpoint/2010/main" val="952765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Exploratory Data Analysis(EDA)</a:t>
            </a:r>
            <a:endParaRPr lang="en-US" dirty="0"/>
          </a:p>
        </p:txBody>
      </p:sp>
      <p:sp>
        <p:nvSpPr>
          <p:cNvPr id="3" name="Content Placeholder 2"/>
          <p:cNvSpPr>
            <a:spLocks noGrp="1"/>
          </p:cNvSpPr>
          <p:nvPr>
            <p:ph idx="1"/>
          </p:nvPr>
        </p:nvSpPr>
        <p:spPr/>
        <p:txBody>
          <a:bodyPr/>
          <a:lstStyle/>
          <a:p>
            <a:r>
              <a:rPr lang="en-US" dirty="0" smtClean="0"/>
              <a:t>Let’s first look at the head and tail of the dataset:</a:t>
            </a:r>
          </a:p>
          <a:p>
            <a:pPr marL="0" indent="0">
              <a:buNone/>
            </a:pPr>
            <a:r>
              <a:rPr lang="en-US" dirty="0" smtClean="0"/>
              <a:t>                       Head                                                                         Tail</a:t>
            </a:r>
          </a:p>
          <a:p>
            <a:endParaRPr lang="en-US" dirty="0"/>
          </a:p>
        </p:txBody>
      </p:sp>
      <p:pic>
        <p:nvPicPr>
          <p:cNvPr id="4" name="Picture 3"/>
          <p:cNvPicPr>
            <a:picLocks noChangeAspect="1"/>
          </p:cNvPicPr>
          <p:nvPr/>
        </p:nvPicPr>
        <p:blipFill>
          <a:blip r:embed="rId2"/>
          <a:stretch>
            <a:fillRect/>
          </a:stretch>
        </p:blipFill>
        <p:spPr>
          <a:xfrm>
            <a:off x="1396710" y="3546764"/>
            <a:ext cx="3819525" cy="2715490"/>
          </a:xfrm>
          <a:prstGeom prst="rect">
            <a:avLst/>
          </a:prstGeom>
        </p:spPr>
      </p:pic>
      <p:pic>
        <p:nvPicPr>
          <p:cNvPr id="5" name="Picture 4"/>
          <p:cNvPicPr>
            <a:picLocks noChangeAspect="1"/>
          </p:cNvPicPr>
          <p:nvPr/>
        </p:nvPicPr>
        <p:blipFill>
          <a:blip r:embed="rId3"/>
          <a:stretch>
            <a:fillRect/>
          </a:stretch>
        </p:blipFill>
        <p:spPr>
          <a:xfrm>
            <a:off x="6299055" y="3546764"/>
            <a:ext cx="3971925" cy="2715490"/>
          </a:xfrm>
          <a:prstGeom prst="rect">
            <a:avLst/>
          </a:prstGeom>
        </p:spPr>
      </p:pic>
    </p:spTree>
    <p:extLst>
      <p:ext uri="{BB962C8B-B14F-4D97-AF65-F5344CB8AC3E}">
        <p14:creationId xmlns:p14="http://schemas.microsoft.com/office/powerpoint/2010/main" val="2822439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information about the dataset</a:t>
            </a:r>
            <a:endParaRPr lang="en-US" dirty="0"/>
          </a:p>
        </p:txBody>
      </p:sp>
      <p:sp>
        <p:nvSpPr>
          <p:cNvPr id="6" name="Content Placeholder 5"/>
          <p:cNvSpPr>
            <a:spLocks noGrp="1"/>
          </p:cNvSpPr>
          <p:nvPr>
            <p:ph idx="1"/>
          </p:nvPr>
        </p:nvSpPr>
        <p:spPr>
          <a:xfrm>
            <a:off x="840509" y="2603500"/>
            <a:ext cx="9075858" cy="4092864"/>
          </a:xfrm>
        </p:spPr>
        <p:txBody>
          <a:bodyPr/>
          <a:lstStyle/>
          <a:p>
            <a:r>
              <a:rPr lang="en-US" dirty="0" smtClean="0"/>
              <a:t>Shape of the dataset: (20641, 3)</a:t>
            </a:r>
          </a:p>
          <a:p>
            <a:r>
              <a:rPr lang="en-US" dirty="0" smtClean="0"/>
              <a:t>Number of Rows: 20641</a:t>
            </a:r>
          </a:p>
          <a:p>
            <a:r>
              <a:rPr lang="en-US" dirty="0" smtClean="0"/>
              <a:t>Number of Columns: 3</a:t>
            </a:r>
          </a:p>
          <a:p>
            <a:r>
              <a:rPr lang="en-US" dirty="0" smtClean="0"/>
              <a:t>Distinct Columns: Date, Order_id, Product</a:t>
            </a:r>
          </a:p>
          <a:p>
            <a:r>
              <a:rPr lang="en-US" dirty="0" smtClean="0"/>
              <a:t>Data Types: Date(object), Order_id(int64), Product(object)</a:t>
            </a:r>
          </a:p>
          <a:p>
            <a:r>
              <a:rPr lang="en-US" dirty="0" smtClean="0"/>
              <a:t>Five point Summary/Describe:</a:t>
            </a:r>
          </a:p>
          <a:p>
            <a:endParaRPr lang="en-US" dirty="0" smtClean="0"/>
          </a:p>
          <a:p>
            <a:endParaRPr lang="en-US" dirty="0"/>
          </a:p>
        </p:txBody>
      </p:sp>
      <p:pic>
        <p:nvPicPr>
          <p:cNvPr id="8" name="Picture 7"/>
          <p:cNvPicPr>
            <a:picLocks noChangeAspect="1"/>
          </p:cNvPicPr>
          <p:nvPr/>
        </p:nvPicPr>
        <p:blipFill>
          <a:blip r:embed="rId2"/>
          <a:stretch>
            <a:fillRect/>
          </a:stretch>
        </p:blipFill>
        <p:spPr>
          <a:xfrm>
            <a:off x="1378239" y="5338617"/>
            <a:ext cx="7239288" cy="1191491"/>
          </a:xfrm>
          <a:prstGeom prst="rect">
            <a:avLst/>
          </a:prstGeom>
        </p:spPr>
      </p:pic>
      <p:pic>
        <p:nvPicPr>
          <p:cNvPr id="9" name="Picture 8"/>
          <p:cNvPicPr>
            <a:picLocks noChangeAspect="1"/>
          </p:cNvPicPr>
          <p:nvPr/>
        </p:nvPicPr>
        <p:blipFill rotWithShape="1">
          <a:blip r:embed="rId3"/>
          <a:srcRect t="4840" b="3324"/>
          <a:stretch/>
        </p:blipFill>
        <p:spPr>
          <a:xfrm>
            <a:off x="7528214" y="2446337"/>
            <a:ext cx="4019550" cy="1665720"/>
          </a:xfrm>
          <a:prstGeom prst="rect">
            <a:avLst/>
          </a:prstGeom>
        </p:spPr>
      </p:pic>
    </p:spTree>
    <p:extLst>
      <p:ext uri="{BB962C8B-B14F-4D97-AF65-F5344CB8AC3E}">
        <p14:creationId xmlns:p14="http://schemas.microsoft.com/office/powerpoint/2010/main" val="3907272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 of different Products</a:t>
            </a:r>
            <a:endParaRPr lang="en-US" dirty="0"/>
          </a:p>
        </p:txBody>
      </p:sp>
      <p:pic>
        <p:nvPicPr>
          <p:cNvPr id="4" name="Content Placeholder 3"/>
          <p:cNvPicPr>
            <a:picLocks noGrp="1" noChangeAspect="1"/>
          </p:cNvPicPr>
          <p:nvPr>
            <p:ph idx="1"/>
          </p:nvPr>
        </p:nvPicPr>
        <p:blipFill>
          <a:blip r:embed="rId2"/>
          <a:stretch>
            <a:fillRect/>
          </a:stretch>
        </p:blipFill>
        <p:spPr>
          <a:xfrm>
            <a:off x="443345" y="2309092"/>
            <a:ext cx="3426692" cy="4558144"/>
          </a:xfrm>
          <a:prstGeom prst="rect">
            <a:avLst/>
          </a:prstGeom>
        </p:spPr>
      </p:pic>
      <p:pic>
        <p:nvPicPr>
          <p:cNvPr id="5" name="Content Placeholder 3"/>
          <p:cNvPicPr>
            <a:picLocks noChangeAspect="1"/>
          </p:cNvPicPr>
          <p:nvPr/>
        </p:nvPicPr>
        <p:blipFill>
          <a:blip r:embed="rId3"/>
          <a:stretch>
            <a:fillRect/>
          </a:stretch>
        </p:blipFill>
        <p:spPr>
          <a:xfrm>
            <a:off x="4038601" y="2309090"/>
            <a:ext cx="7765471" cy="4548909"/>
          </a:xfrm>
          <a:prstGeom prst="rect">
            <a:avLst/>
          </a:prstGeom>
        </p:spPr>
      </p:pic>
    </p:spTree>
    <p:extLst>
      <p:ext uri="{BB962C8B-B14F-4D97-AF65-F5344CB8AC3E}">
        <p14:creationId xmlns:p14="http://schemas.microsoft.com/office/powerpoint/2010/main" val="3580365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Visualizing </a:t>
            </a:r>
            <a:r>
              <a:rPr lang="en-US" smtClean="0"/>
              <a:t>the count</a:t>
            </a:r>
            <a:endParaRPr lang="en-US" dirty="0"/>
          </a:p>
        </p:txBody>
      </p:sp>
      <p:pic>
        <p:nvPicPr>
          <p:cNvPr id="4" name="Content Placeholder 3"/>
          <p:cNvPicPr>
            <a:picLocks noGrp="1" noChangeAspect="1"/>
          </p:cNvPicPr>
          <p:nvPr>
            <p:ph idx="1"/>
          </p:nvPr>
        </p:nvPicPr>
        <p:blipFill rotWithShape="1">
          <a:blip r:embed="rId2"/>
          <a:srcRect t="8494"/>
          <a:stretch/>
        </p:blipFill>
        <p:spPr>
          <a:xfrm>
            <a:off x="147782" y="2346036"/>
            <a:ext cx="12044218" cy="4530435"/>
          </a:xfrm>
          <a:prstGeom prst="rect">
            <a:avLst/>
          </a:prstGeom>
        </p:spPr>
      </p:pic>
    </p:spTree>
    <p:extLst>
      <p:ext uri="{BB962C8B-B14F-4D97-AF65-F5344CB8AC3E}">
        <p14:creationId xmlns:p14="http://schemas.microsoft.com/office/powerpoint/2010/main" val="1609471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Yearly Trends based on Number of Orders</a:t>
            </a:r>
            <a:endParaRPr lang="en-US" dirty="0"/>
          </a:p>
        </p:txBody>
      </p:sp>
      <p:sp>
        <p:nvSpPr>
          <p:cNvPr id="5" name="Content Placeholder 4"/>
          <p:cNvSpPr>
            <a:spLocks noGrp="1"/>
          </p:cNvSpPr>
          <p:nvPr>
            <p:ph idx="1"/>
          </p:nvPr>
        </p:nvSpPr>
        <p:spPr/>
        <p:txBody>
          <a:bodyPr/>
          <a:lstStyle/>
          <a:p>
            <a:r>
              <a:rPr lang="en-US" dirty="0"/>
              <a:t>W</a:t>
            </a:r>
            <a:r>
              <a:rPr lang="en-US" dirty="0" smtClean="0"/>
              <a:t>e have data only till the month of February in 2020.</a:t>
            </a:r>
          </a:p>
          <a:p>
            <a:endParaRPr lang="en-US" dirty="0"/>
          </a:p>
        </p:txBody>
      </p:sp>
      <p:pic>
        <p:nvPicPr>
          <p:cNvPr id="6" name="Content Placeholder 3"/>
          <p:cNvPicPr>
            <a:picLocks noChangeAspect="1"/>
          </p:cNvPicPr>
          <p:nvPr/>
        </p:nvPicPr>
        <p:blipFill rotWithShape="1">
          <a:blip r:embed="rId2"/>
          <a:srcRect t="8634"/>
          <a:stretch/>
        </p:blipFill>
        <p:spPr>
          <a:xfrm>
            <a:off x="886691" y="3038764"/>
            <a:ext cx="10788073" cy="3819236"/>
          </a:xfrm>
          <a:prstGeom prst="rect">
            <a:avLst/>
          </a:prstGeom>
        </p:spPr>
      </p:pic>
    </p:spTree>
    <p:extLst>
      <p:ext uri="{BB962C8B-B14F-4D97-AF65-F5344CB8AC3E}">
        <p14:creationId xmlns:p14="http://schemas.microsoft.com/office/powerpoint/2010/main" val="2501159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Quarterly Trends based on Number of Orders</a:t>
            </a:r>
            <a:endParaRPr lang="en-US" dirty="0"/>
          </a:p>
        </p:txBody>
      </p:sp>
      <p:pic>
        <p:nvPicPr>
          <p:cNvPr id="4" name="Content Placeholder 3"/>
          <p:cNvPicPr>
            <a:picLocks noGrp="1" noChangeAspect="1"/>
          </p:cNvPicPr>
          <p:nvPr>
            <p:ph idx="1"/>
          </p:nvPr>
        </p:nvPicPr>
        <p:blipFill rotWithShape="1">
          <a:blip r:embed="rId2"/>
          <a:srcRect t="7843"/>
          <a:stretch/>
        </p:blipFill>
        <p:spPr>
          <a:xfrm>
            <a:off x="489527" y="2281382"/>
            <a:ext cx="11157528" cy="4585854"/>
          </a:xfrm>
          <a:prstGeom prst="rect">
            <a:avLst/>
          </a:prstGeom>
        </p:spPr>
      </p:pic>
    </p:spTree>
    <p:extLst>
      <p:ext uri="{BB962C8B-B14F-4D97-AF65-F5344CB8AC3E}">
        <p14:creationId xmlns:p14="http://schemas.microsoft.com/office/powerpoint/2010/main" val="311310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Monthly Trends based on Number of Orders</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2"/>
          <a:srcRect t="7771"/>
          <a:stretch/>
        </p:blipFill>
        <p:spPr>
          <a:xfrm>
            <a:off x="581891" y="2272145"/>
            <a:ext cx="11222182" cy="4604326"/>
          </a:xfrm>
          <a:prstGeom prst="rect">
            <a:avLst/>
          </a:prstGeom>
        </p:spPr>
      </p:pic>
    </p:spTree>
    <p:extLst>
      <p:ext uri="{BB962C8B-B14F-4D97-AF65-F5344CB8AC3E}">
        <p14:creationId xmlns:p14="http://schemas.microsoft.com/office/powerpoint/2010/main" val="4260584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Visualizing Year Wise Count of Ordered Product</a:t>
            </a:r>
            <a:endParaRPr lang="en-US" dirty="0"/>
          </a:p>
        </p:txBody>
      </p:sp>
      <p:pic>
        <p:nvPicPr>
          <p:cNvPr id="4" name="Content Placeholder 3"/>
          <p:cNvPicPr>
            <a:picLocks noGrp="1" noChangeAspect="1"/>
          </p:cNvPicPr>
          <p:nvPr>
            <p:ph idx="1"/>
          </p:nvPr>
        </p:nvPicPr>
        <p:blipFill rotWithShape="1">
          <a:blip r:embed="rId2"/>
          <a:stretch/>
        </p:blipFill>
        <p:spPr>
          <a:xfrm>
            <a:off x="517236" y="2272145"/>
            <a:ext cx="11185237" cy="4433455"/>
          </a:xfrm>
          <a:prstGeom prst="rect">
            <a:avLst/>
          </a:prstGeom>
        </p:spPr>
      </p:pic>
    </p:spTree>
    <p:extLst>
      <p:ext uri="{BB962C8B-B14F-4D97-AF65-F5344CB8AC3E}">
        <p14:creationId xmlns:p14="http://schemas.microsoft.com/office/powerpoint/2010/main" val="906720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KNIME Workflow Image:</a:t>
            </a:r>
            <a:endParaRPr lang="en-US" dirty="0"/>
          </a:p>
        </p:txBody>
      </p:sp>
      <p:sp>
        <p:nvSpPr>
          <p:cNvPr id="5" name="Content Placeholder 4"/>
          <p:cNvSpPr>
            <a:spLocks noGrp="1"/>
          </p:cNvSpPr>
          <p:nvPr>
            <p:ph idx="1"/>
          </p:nvPr>
        </p:nvSpPr>
        <p:spPr>
          <a:xfrm>
            <a:off x="600365" y="2262909"/>
            <a:ext cx="5384800" cy="4498109"/>
          </a:xfrm>
        </p:spPr>
        <p:txBody>
          <a:bodyPr/>
          <a:lstStyle/>
          <a:p>
            <a:pPr marL="0" indent="0">
              <a:buNone/>
            </a:pPr>
            <a:r>
              <a:rPr lang="en-US" b="1" u="sng" dirty="0" smtClean="0"/>
              <a:t>Steps:</a:t>
            </a:r>
          </a:p>
          <a:p>
            <a:pPr>
              <a:buFont typeface="+mj-lt"/>
              <a:buAutoNum type="arabicParenR"/>
            </a:pPr>
            <a:r>
              <a:rPr lang="en-US" dirty="0" smtClean="0"/>
              <a:t>Reading the dataset using </a:t>
            </a:r>
            <a:r>
              <a:rPr lang="en-US" i="1" dirty="0" smtClean="0"/>
              <a:t>Excel Reader</a:t>
            </a:r>
            <a:r>
              <a:rPr lang="en-US" dirty="0" smtClean="0"/>
              <a:t>.</a:t>
            </a:r>
          </a:p>
          <a:p>
            <a:pPr>
              <a:buFont typeface="+mj-lt"/>
              <a:buAutoNum type="arabicParenR"/>
            </a:pPr>
            <a:r>
              <a:rPr lang="en-US" dirty="0" smtClean="0"/>
              <a:t>Applying </a:t>
            </a:r>
            <a:r>
              <a:rPr lang="en-US" i="1" dirty="0" smtClean="0"/>
              <a:t>Group by </a:t>
            </a:r>
            <a:r>
              <a:rPr lang="en-US" dirty="0" smtClean="0"/>
              <a:t>on ‘Order_id’.</a:t>
            </a:r>
          </a:p>
          <a:p>
            <a:pPr>
              <a:buFont typeface="+mj-lt"/>
              <a:buAutoNum type="arabicParenR"/>
            </a:pPr>
            <a:r>
              <a:rPr lang="en-US" dirty="0" smtClean="0"/>
              <a:t>Splitting the cell to list using </a:t>
            </a:r>
            <a:r>
              <a:rPr lang="en-US" i="1" dirty="0" smtClean="0"/>
              <a:t>Cell Splitter node.</a:t>
            </a:r>
          </a:p>
          <a:p>
            <a:pPr>
              <a:buFont typeface="+mj-lt"/>
              <a:buAutoNum type="arabicParenR"/>
            </a:pPr>
            <a:r>
              <a:rPr lang="en-US" dirty="0" smtClean="0"/>
              <a:t>Applying the Association Rules using </a:t>
            </a:r>
            <a:r>
              <a:rPr lang="en-US" i="1" dirty="0" smtClean="0"/>
              <a:t>Association Rule Learner.</a:t>
            </a:r>
          </a:p>
          <a:p>
            <a:pPr>
              <a:buFont typeface="+mj-lt"/>
              <a:buAutoNum type="arabicParenR"/>
            </a:pPr>
            <a:r>
              <a:rPr lang="en-US" dirty="0" smtClean="0"/>
              <a:t>Again applying the </a:t>
            </a:r>
            <a:r>
              <a:rPr lang="en-US" i="1" dirty="0" smtClean="0"/>
              <a:t>Group by </a:t>
            </a:r>
            <a:r>
              <a:rPr lang="en-US" dirty="0" smtClean="0"/>
              <a:t> on Products(Items).</a:t>
            </a:r>
          </a:p>
          <a:p>
            <a:pPr>
              <a:buFont typeface="+mj-lt"/>
              <a:buAutoNum type="arabicParenR"/>
            </a:pPr>
            <a:r>
              <a:rPr lang="en-US" dirty="0" smtClean="0"/>
              <a:t>Renaming the item column to Basket_Items, and Consequent to Recommended_items.</a:t>
            </a:r>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a:p>
        </p:txBody>
      </p:sp>
      <p:pic>
        <p:nvPicPr>
          <p:cNvPr id="6" name="Content Placeholder 3"/>
          <p:cNvPicPr>
            <a:picLocks noChangeAspect="1"/>
          </p:cNvPicPr>
          <p:nvPr/>
        </p:nvPicPr>
        <p:blipFill>
          <a:blip r:embed="rId2"/>
          <a:stretch>
            <a:fillRect/>
          </a:stretch>
        </p:blipFill>
        <p:spPr>
          <a:xfrm>
            <a:off x="5985163" y="2262909"/>
            <a:ext cx="5726545" cy="4604327"/>
          </a:xfrm>
          <a:prstGeom prst="rect">
            <a:avLst/>
          </a:prstGeom>
        </p:spPr>
      </p:pic>
    </p:spTree>
    <p:extLst>
      <p:ext uri="{BB962C8B-B14F-4D97-AF65-F5344CB8AC3E}">
        <p14:creationId xmlns:p14="http://schemas.microsoft.com/office/powerpoint/2010/main" val="1524667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Image of Original dataset (after reading excel in KNIME)</a:t>
            </a:r>
            <a:endParaRPr lang="en-US" dirty="0"/>
          </a:p>
        </p:txBody>
      </p:sp>
      <p:sp>
        <p:nvSpPr>
          <p:cNvPr id="5" name="Content Placeholder 4"/>
          <p:cNvSpPr>
            <a:spLocks noGrp="1"/>
          </p:cNvSpPr>
          <p:nvPr>
            <p:ph idx="1"/>
          </p:nvPr>
        </p:nvSpPr>
        <p:spPr>
          <a:xfrm>
            <a:off x="443345" y="2290618"/>
            <a:ext cx="6179128" cy="4567382"/>
          </a:xfrm>
        </p:spPr>
        <p:txBody>
          <a:bodyPr/>
          <a:lstStyle/>
          <a:p>
            <a:r>
              <a:rPr lang="en-US" dirty="0" smtClean="0"/>
              <a:t>Displaying the sample image after reading the original dataset from the excel using Excel Reader.</a:t>
            </a:r>
          </a:p>
          <a:p>
            <a:r>
              <a:rPr lang="en-US" dirty="0" smtClean="0"/>
              <a:t>Here we have columns : Date, Order_id, and Product.</a:t>
            </a:r>
          </a:p>
          <a:p>
            <a:r>
              <a:rPr lang="en-US" dirty="0" smtClean="0"/>
              <a:t>Total Rows: 20641</a:t>
            </a:r>
          </a:p>
          <a:p>
            <a:r>
              <a:rPr lang="en-US" dirty="0" smtClean="0"/>
              <a:t>Total Columns: 3 </a:t>
            </a:r>
          </a:p>
          <a:p>
            <a:r>
              <a:rPr lang="en-US" dirty="0" smtClean="0"/>
              <a:t>In the next step, we will apply group by on ‘Order_id’ and will do the concatenation on ‘Product’.</a:t>
            </a:r>
          </a:p>
          <a:p>
            <a:pPr marL="0" indent="0">
              <a:buNone/>
            </a:pPr>
            <a:endParaRPr lang="en-US" dirty="0"/>
          </a:p>
        </p:txBody>
      </p:sp>
      <p:pic>
        <p:nvPicPr>
          <p:cNvPr id="6" name="Content Placeholder 3"/>
          <p:cNvPicPr>
            <a:picLocks noChangeAspect="1"/>
          </p:cNvPicPr>
          <p:nvPr/>
        </p:nvPicPr>
        <p:blipFill>
          <a:blip r:embed="rId2"/>
          <a:stretch>
            <a:fillRect/>
          </a:stretch>
        </p:blipFill>
        <p:spPr>
          <a:xfrm>
            <a:off x="7148945" y="2290618"/>
            <a:ext cx="4525818" cy="4567382"/>
          </a:xfrm>
          <a:prstGeom prst="rect">
            <a:avLst/>
          </a:prstGeom>
        </p:spPr>
      </p:pic>
    </p:spTree>
    <p:extLst>
      <p:ext uri="{BB962C8B-B14F-4D97-AF65-F5344CB8AC3E}">
        <p14:creationId xmlns:p14="http://schemas.microsoft.com/office/powerpoint/2010/main" val="2190547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image after applying the Group_by on ‘Order_id’ (KNIME)</a:t>
            </a:r>
            <a:endParaRPr lang="en-US" dirty="0"/>
          </a:p>
        </p:txBody>
      </p:sp>
      <p:pic>
        <p:nvPicPr>
          <p:cNvPr id="4" name="Content Placeholder 3"/>
          <p:cNvPicPr>
            <a:picLocks noGrp="1" noChangeAspect="1"/>
          </p:cNvPicPr>
          <p:nvPr>
            <p:ph idx="1"/>
          </p:nvPr>
        </p:nvPicPr>
        <p:blipFill>
          <a:blip r:embed="rId2"/>
          <a:stretch>
            <a:fillRect/>
          </a:stretch>
        </p:blipFill>
        <p:spPr>
          <a:xfrm>
            <a:off x="554182" y="2253673"/>
            <a:ext cx="11092873" cy="4604327"/>
          </a:xfrm>
          <a:prstGeom prst="rect">
            <a:avLst/>
          </a:prstGeom>
        </p:spPr>
      </p:pic>
    </p:spTree>
    <p:extLst>
      <p:ext uri="{BB962C8B-B14F-4D97-AF65-F5344CB8AC3E}">
        <p14:creationId xmlns:p14="http://schemas.microsoft.com/office/powerpoint/2010/main" val="642484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Image after applying Cell Splitter</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517236" y="2253672"/>
            <a:ext cx="11004204" cy="4604327"/>
          </a:xfrm>
          <a:prstGeom prst="rect">
            <a:avLst/>
          </a:prstGeom>
        </p:spPr>
      </p:pic>
    </p:spTree>
    <p:extLst>
      <p:ext uri="{BB962C8B-B14F-4D97-AF65-F5344CB8AC3E}">
        <p14:creationId xmlns:p14="http://schemas.microsoft.com/office/powerpoint/2010/main" val="486300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Sample Image after applying Association Rules : Support=0.02, Min confidence=0.4</a:t>
            </a:r>
            <a:endParaRPr lang="en-US" dirty="0"/>
          </a:p>
        </p:txBody>
      </p:sp>
      <p:pic>
        <p:nvPicPr>
          <p:cNvPr id="4" name="Content Placeholder 3"/>
          <p:cNvPicPr>
            <a:picLocks noGrp="1" noChangeAspect="1"/>
          </p:cNvPicPr>
          <p:nvPr>
            <p:ph idx="1"/>
          </p:nvPr>
        </p:nvPicPr>
        <p:blipFill>
          <a:blip r:embed="rId2"/>
          <a:stretch>
            <a:fillRect/>
          </a:stretch>
        </p:blipFill>
        <p:spPr>
          <a:xfrm>
            <a:off x="581891" y="2309091"/>
            <a:ext cx="11120582" cy="4548909"/>
          </a:xfrm>
          <a:prstGeom prst="rect">
            <a:avLst/>
          </a:prstGeom>
        </p:spPr>
      </p:pic>
    </p:spTree>
    <p:extLst>
      <p:ext uri="{BB962C8B-B14F-4D97-AF65-F5344CB8AC3E}">
        <p14:creationId xmlns:p14="http://schemas.microsoft.com/office/powerpoint/2010/main" val="3548460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Reason behind Association Rules</a:t>
            </a:r>
            <a:endParaRPr lang="en-US" dirty="0"/>
          </a:p>
        </p:txBody>
      </p:sp>
      <p:sp>
        <p:nvSpPr>
          <p:cNvPr id="3" name="Content Placeholder 2"/>
          <p:cNvSpPr>
            <a:spLocks noGrp="1"/>
          </p:cNvSpPr>
          <p:nvPr>
            <p:ph idx="1"/>
          </p:nvPr>
        </p:nvSpPr>
        <p:spPr>
          <a:xfrm>
            <a:off x="526473" y="2272145"/>
            <a:ext cx="11185236" cy="4396509"/>
          </a:xfrm>
        </p:spPr>
        <p:txBody>
          <a:bodyPr>
            <a:normAutofit/>
          </a:bodyPr>
          <a:lstStyle/>
          <a:p>
            <a:r>
              <a:rPr lang="en-US" dirty="0"/>
              <a:t>Since we need to get the best and enough association rules for our list of given products and recommended products on the basis of each individual orders, we should start with the minimum support and min confidence levels</a:t>
            </a:r>
            <a:r>
              <a:rPr lang="en-US" dirty="0" smtClean="0"/>
              <a:t>.</a:t>
            </a:r>
          </a:p>
          <a:p>
            <a:r>
              <a:rPr lang="en-US" dirty="0" smtClean="0"/>
              <a:t>As it is an iterative process, I tried selecting minimum support at different levels like 0.05, 0.04, 0.03, 0.02 but got the best results and enough rules by using  support at 0.02, so I chose 0.02 as the minimum support.</a:t>
            </a:r>
          </a:p>
          <a:p>
            <a:r>
              <a:rPr lang="en-US" dirty="0" smtClean="0"/>
              <a:t>And same goes for minimum confidence, I chose 0.4 as the minimum confidence level.</a:t>
            </a:r>
          </a:p>
          <a:p>
            <a:r>
              <a:rPr lang="en-US" dirty="0"/>
              <a:t>The lift value is a measure of importance of a rule. The lift value of an association rule is the ratio of the confidence of the rule and the expected confidence of the rule. </a:t>
            </a:r>
            <a:endParaRPr lang="en-US" dirty="0" smtClean="0"/>
          </a:p>
          <a:p>
            <a:r>
              <a:rPr lang="en-US" dirty="0" smtClean="0"/>
              <a:t>There are different lift values for different combination of products in the basket.</a:t>
            </a:r>
          </a:p>
          <a:p>
            <a:r>
              <a:rPr lang="en-US" dirty="0" smtClean="0"/>
              <a:t>A </a:t>
            </a:r>
            <a:r>
              <a:rPr lang="en-US" dirty="0"/>
              <a:t>lift ratio larger than </a:t>
            </a:r>
            <a:r>
              <a:rPr lang="en-US" b="1" dirty="0"/>
              <a:t>1.0</a:t>
            </a:r>
            <a:r>
              <a:rPr lang="en-US" dirty="0"/>
              <a:t> implies that the relationship between the antecedent and the consequent is more significant than would be expected if the two sets were independent. The larger the lift ratio, the more significant the association.</a:t>
            </a:r>
            <a:endParaRPr lang="en-US" dirty="0" smtClean="0"/>
          </a:p>
        </p:txBody>
      </p:sp>
    </p:spTree>
    <p:extLst>
      <p:ext uri="{BB962C8B-B14F-4D97-AF65-F5344CB8AC3E}">
        <p14:creationId xmlns:p14="http://schemas.microsoft.com/office/powerpoint/2010/main" val="1299423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image after applying Group_by on items, consequent = First</a:t>
            </a:r>
            <a:endParaRPr lang="en-US" dirty="0"/>
          </a:p>
        </p:txBody>
      </p:sp>
      <p:pic>
        <p:nvPicPr>
          <p:cNvPr id="4" name="Content Placeholder 3"/>
          <p:cNvPicPr>
            <a:picLocks noGrp="1" noChangeAspect="1"/>
          </p:cNvPicPr>
          <p:nvPr>
            <p:ph idx="1"/>
          </p:nvPr>
        </p:nvPicPr>
        <p:blipFill>
          <a:blip r:embed="rId2"/>
          <a:stretch>
            <a:fillRect/>
          </a:stretch>
        </p:blipFill>
        <p:spPr>
          <a:xfrm>
            <a:off x="1973095" y="2216727"/>
            <a:ext cx="7943271" cy="4641273"/>
          </a:xfrm>
          <a:prstGeom prst="rect">
            <a:avLst/>
          </a:prstGeom>
        </p:spPr>
      </p:pic>
    </p:spTree>
    <p:extLst>
      <p:ext uri="{BB962C8B-B14F-4D97-AF65-F5344CB8AC3E}">
        <p14:creationId xmlns:p14="http://schemas.microsoft.com/office/powerpoint/2010/main" val="144407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Image after renaming column names</a:t>
            </a:r>
            <a:endParaRPr lang="en-US" dirty="0"/>
          </a:p>
        </p:txBody>
      </p:sp>
      <p:pic>
        <p:nvPicPr>
          <p:cNvPr id="4" name="Content Placeholder 3"/>
          <p:cNvPicPr>
            <a:picLocks noGrp="1" noChangeAspect="1"/>
          </p:cNvPicPr>
          <p:nvPr>
            <p:ph idx="1"/>
          </p:nvPr>
        </p:nvPicPr>
        <p:blipFill>
          <a:blip r:embed="rId2"/>
          <a:stretch>
            <a:fillRect/>
          </a:stretch>
        </p:blipFill>
        <p:spPr>
          <a:xfrm>
            <a:off x="489527" y="2290618"/>
            <a:ext cx="11176000" cy="4567382"/>
          </a:xfrm>
          <a:prstGeom prst="rect">
            <a:avLst/>
          </a:prstGeom>
        </p:spPr>
      </p:pic>
    </p:spTree>
    <p:extLst>
      <p:ext uri="{BB962C8B-B14F-4D97-AF65-F5344CB8AC3E}">
        <p14:creationId xmlns:p14="http://schemas.microsoft.com/office/powerpoint/2010/main" val="2891150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Suggestion of Possible Combos with Lucrative Offers</a:t>
            </a:r>
            <a:endParaRPr lang="en-US" dirty="0"/>
          </a:p>
        </p:txBody>
      </p:sp>
      <p:sp>
        <p:nvSpPr>
          <p:cNvPr id="3" name="Content Placeholder 2"/>
          <p:cNvSpPr>
            <a:spLocks noGrp="1"/>
          </p:cNvSpPr>
          <p:nvPr>
            <p:ph idx="1"/>
          </p:nvPr>
        </p:nvSpPr>
        <p:spPr>
          <a:xfrm>
            <a:off x="517236" y="2290618"/>
            <a:ext cx="11212945" cy="4567382"/>
          </a:xfrm>
        </p:spPr>
        <p:txBody>
          <a:bodyPr>
            <a:normAutofit lnSpcReduction="10000"/>
          </a:bodyPr>
          <a:lstStyle/>
          <a:p>
            <a:r>
              <a:rPr lang="en-US" dirty="0"/>
              <a:t>A</a:t>
            </a:r>
            <a:r>
              <a:rPr lang="en-US" dirty="0" smtClean="0"/>
              <a:t>fter applying the association rules, we can see in the final table that the customers who bought dinner rolls, cheese, fruits, also bought yogurt, aluminum foil, eggs, ice cream. So, in this category, we can make a food combo with some percent discount to get the customers all at once at some discounted price.</a:t>
            </a:r>
          </a:p>
          <a:p>
            <a:r>
              <a:rPr lang="en-US" dirty="0"/>
              <a:t>I</a:t>
            </a:r>
            <a:r>
              <a:rPr lang="en-US" dirty="0" smtClean="0"/>
              <a:t>n the category of hand soap, shampoo, toilet paper, we could see people also added paper towels in their basket, so we can give a offer on a bundle of toilet paper and paper towels. We can also provide free hand soap with the big bottle of shampoo. </a:t>
            </a:r>
          </a:p>
          <a:p>
            <a:r>
              <a:rPr lang="en-US" dirty="0" smtClean="0"/>
              <a:t>Customers who bought pork and eggs also bought beef, so in this food category we can give a discount based on some minimum quantity(in kilograms and grams).</a:t>
            </a:r>
          </a:p>
          <a:p>
            <a:r>
              <a:rPr lang="en-US" dirty="0" smtClean="0"/>
              <a:t>With 0.021 support and at 0.649 confidence, we see that the people who bought ice cream, lunch meat, sugar together also added flour, beef and pasta in their basket. So we can make a ‘</a:t>
            </a:r>
            <a:r>
              <a:rPr lang="en-US" i="1" dirty="0" smtClean="0"/>
              <a:t>lunch items combo deal’ </a:t>
            </a:r>
            <a:r>
              <a:rPr lang="en-US" dirty="0" smtClean="0"/>
              <a:t>of these items all together and we can offer cheese or butter on some total minimum transaction amount.</a:t>
            </a:r>
          </a:p>
          <a:p>
            <a:r>
              <a:rPr lang="en-US" dirty="0" smtClean="0"/>
              <a:t>We can also do a deal with online payment partners to provide cashback offers to our customers on particular payment method. In this way all will get some benefits.</a:t>
            </a:r>
          </a:p>
          <a:p>
            <a:endParaRPr lang="en-US" dirty="0" smtClean="0"/>
          </a:p>
        </p:txBody>
      </p:sp>
    </p:spTree>
    <p:extLst>
      <p:ext uri="{BB962C8B-B14F-4D97-AF65-F5344CB8AC3E}">
        <p14:creationId xmlns:p14="http://schemas.microsoft.com/office/powerpoint/2010/main" val="20712055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
  <TotalTime>1307</TotalTime>
  <Words>806</Words>
  <Application>Microsoft Office PowerPoint</Application>
  <PresentationFormat>Widescreen</PresentationFormat>
  <Paragraphs>68</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Century Gothic</vt:lpstr>
      <vt:lpstr>Wingdings 3</vt:lpstr>
      <vt:lpstr>Ion Boardroom</vt:lpstr>
      <vt:lpstr>MRA Project – Milestone 2 </vt:lpstr>
      <vt:lpstr>Project Description</vt:lpstr>
      <vt:lpstr>Problem Statement</vt:lpstr>
      <vt:lpstr>Exploratory Data Analysis(EDA)</vt:lpstr>
      <vt:lpstr>Basic information about the dataset</vt:lpstr>
      <vt:lpstr>Count of different Products</vt:lpstr>
      <vt:lpstr>Visualizing the count</vt:lpstr>
      <vt:lpstr>Yearly Trends based on Number of Orders</vt:lpstr>
      <vt:lpstr>Quarterly Trends based on Number of Orders</vt:lpstr>
      <vt:lpstr>Monthly Trends based on Number of Orders</vt:lpstr>
      <vt:lpstr>Visualizing Year Wise Count of Ordered Product</vt:lpstr>
      <vt:lpstr>KNIME Workflow Image:</vt:lpstr>
      <vt:lpstr>Sample Image of Original dataset (after reading excel in KNIME)</vt:lpstr>
      <vt:lpstr>Sample image after applying the Group_by on ‘Order_id’ (KNIME)</vt:lpstr>
      <vt:lpstr>Sample Image after applying Cell Splitter</vt:lpstr>
      <vt:lpstr>Sample Image after applying Association Rules : Support=0.02, Min confidence=0.4</vt:lpstr>
      <vt:lpstr>Reason behind Association Rules</vt:lpstr>
      <vt:lpstr>Sample image after applying Group_by on items, consequent = First</vt:lpstr>
      <vt:lpstr>Sample Image after renaming column names</vt:lpstr>
      <vt:lpstr>Suggestion of Possible Combos with Lucrative Offers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MRA Project – Milestone 2</dc:title>
  <dc:creator>user</dc:creator>
  <cp:lastModifiedBy>user</cp:lastModifiedBy>
  <cp:revision>37</cp:revision>
  <dcterms:created xsi:type="dcterms:W3CDTF">2021-12-18T15:33:31Z</dcterms:created>
  <dcterms:modified xsi:type="dcterms:W3CDTF">2021-12-19T13:21:01Z</dcterms:modified>
</cp:coreProperties>
</file>